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Agentic RAG for SEC Filings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52042">
              <a:spcBef>
                <a:spcPts val="500"/>
              </a:spcBef>
              <a:defRPr sz="2400"/>
            </a:pPr>
          </a:p>
          <a:p>
            <a:pPr defTabSz="352042">
              <a:spcBef>
                <a:spcPts val="500"/>
              </a:spcBef>
              <a:defRPr sz="2400"/>
            </a:pPr>
          </a:p>
          <a:p>
            <a:pPr defTabSz="352042">
              <a:spcBef>
                <a:spcPts val="500"/>
              </a:spcBef>
              <a:defRPr sz="2400"/>
            </a:pPr>
            <a:r>
              <a:t>Venkatesh Giri</a:t>
            </a:r>
          </a:p>
        </p:txBody>
      </p:sp>
      <p:sp>
        <p:nvSpPr>
          <p:cNvPr id="96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defTabSz="393190">
              <a:defRPr sz="3700"/>
            </a:pPr>
          </a:p>
        </p:txBody>
      </p:sp>
      <p:sp>
        <p:nvSpPr>
          <p:cNvPr id="9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67461" indent="-267461" defTabSz="356615">
              <a:spcBef>
                <a:spcPts val="500"/>
              </a:spcBef>
              <a:defRPr sz="2400"/>
            </a:pPr>
            <a:r>
              <a:t>The Core Vulnerability of Standard RAG:</a:t>
            </a:r>
          </a:p>
          <a:p>
            <a:pPr lvl="1" marL="579498" indent="-222883" defTabSz="356615">
              <a:spcBef>
                <a:spcPts val="500"/>
              </a:spcBef>
              <a:defRPr sz="2100"/>
            </a:pPr>
            <a:r>
              <a:t>Standard vector DBs cannot reliably execute hard constraints (e.g., 'only 2023 filings').</a:t>
            </a:r>
          </a:p>
          <a:p>
            <a:pPr lvl="1" marL="579498" indent="-222883" defTabSz="356615">
              <a:spcBef>
                <a:spcPts val="500"/>
              </a:spcBef>
              <a:defRPr sz="2100"/>
            </a:pPr>
            <a:r>
              <a:t>Result: Vector drift. The model silently mixes temporal context across different years or corporate entities.</a:t>
            </a:r>
          </a:p>
          <a:p>
            <a:pPr marL="267461" indent="-267461" defTabSz="356615">
              <a:spcBef>
                <a:spcPts val="500"/>
              </a:spcBef>
              <a:defRPr sz="2400"/>
            </a:pPr>
            <a:r>
              <a:t>Our Architectural Solution:</a:t>
            </a:r>
          </a:p>
          <a:p>
            <a:pPr lvl="1" marL="579498" indent="-222883" defTabSz="356615">
              <a:spcBef>
                <a:spcPts val="500"/>
              </a:spcBef>
              <a:defRPr sz="2100"/>
            </a:pPr>
            <a:r>
              <a:t>Decouple strict metadata filtering from the semantic search engine.</a:t>
            </a:r>
          </a:p>
          <a:p>
            <a:pPr lvl="1" marL="579498" indent="-222883" defTabSz="356615">
              <a:spcBef>
                <a:spcPts val="500"/>
              </a:spcBef>
              <a:defRPr sz="2100"/>
            </a:pPr>
            <a:r>
              <a:t>Replace open-ended ReAct LLM loops with a deterministic state machine.</a:t>
            </a:r>
          </a:p>
          <a:p>
            <a:pPr lvl="1" marL="579498" indent="-222883" defTabSz="356615">
              <a:spcBef>
                <a:spcPts val="500"/>
              </a:spcBef>
              <a:defRPr sz="2100"/>
            </a:pPr>
            <a:r>
              <a:t>Enforce fail-fast SQL checks before executing expensive embedding calls.</a:t>
            </a:r>
          </a:p>
        </p:txBody>
      </p:sp>
      <p:sp>
        <p:nvSpPr>
          <p:cNvPr id="100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>
            <a:lvl1pPr defTabSz="434521">
              <a:defRPr sz="4100"/>
            </a:lvl1pPr>
          </a:lstStyle>
          <a:p>
            <a:pPr/>
            <a:r>
              <a:t>Decoupled Storage &amp; Hybrid Retrieval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43388" indent="-243388" defTabSz="324518">
              <a:spcBef>
                <a:spcPts val="400"/>
              </a:spcBef>
              <a:defRPr sz="2100"/>
            </a:pPr>
            <a:r>
              <a:t>DuckDB (In-Process SQL) -&gt; The Catalog</a:t>
            </a:r>
          </a:p>
          <a:p>
            <a:pPr lvl="1" marL="527344" indent="-202824" defTabSz="324518">
              <a:spcBef>
                <a:spcPts val="400"/>
              </a:spcBef>
              <a:defRPr sz="1900"/>
            </a:pPr>
            <a:r>
              <a:t>Handles exact metadata filters and target validation in &lt;5ms.</a:t>
            </a:r>
          </a:p>
          <a:p>
            <a:pPr marL="243388" indent="-243388" defTabSz="324518">
              <a:spcBef>
                <a:spcPts val="400"/>
              </a:spcBef>
              <a:defRPr sz="2100"/>
            </a:pPr>
            <a:r>
              <a:t>FAISS (Dense) + BM25 (Sparse) -&gt; The Search</a:t>
            </a:r>
          </a:p>
          <a:p>
            <a:pPr lvl="1" marL="527344" indent="-202824" defTabSz="324518">
              <a:spcBef>
                <a:spcPts val="400"/>
              </a:spcBef>
              <a:defRPr sz="1900"/>
            </a:pPr>
            <a:r>
              <a:t>Dense catches semantic intent; Sparse catches exact tickers and section codes.</a:t>
            </a:r>
          </a:p>
          <a:p>
            <a:pPr marL="243388" indent="-243388" defTabSz="324518">
              <a:spcBef>
                <a:spcPts val="400"/>
              </a:spcBef>
              <a:defRPr sz="2100"/>
            </a:pPr>
            <a:r>
              <a:t>Why we reject RRF (Reciprocal Rank Fusion):</a:t>
            </a:r>
          </a:p>
          <a:p>
            <a:pPr lvl="1" marL="527344" indent="-202824" defTabSz="324518">
              <a:spcBef>
                <a:spcPts val="400"/>
              </a:spcBef>
              <a:defRPr sz="1900"/>
            </a:pPr>
            <a:r>
              <a:t>RRF relies on arbitrary rank math. Instead, we union candidate IDs to guarantee we never drop a perfect keyword match.</a:t>
            </a:r>
          </a:p>
          <a:p>
            <a:pPr marL="243388" indent="-243388" defTabSz="324518">
              <a:spcBef>
                <a:spcPts val="400"/>
              </a:spcBef>
              <a:defRPr sz="2100"/>
            </a:pPr>
            <a:r>
              <a:t>Cross-Encoder (Reranker) -&gt; The Filter</a:t>
            </a:r>
          </a:p>
          <a:p>
            <a:pPr lvl="1" marL="527344" indent="-202824" defTabSz="324518">
              <a:spcBef>
                <a:spcPts val="400"/>
              </a:spcBef>
              <a:defRPr sz="1900"/>
            </a:pPr>
            <a:r>
              <a:t>Evaluates the hybrid  union set jointly (query + passage) for highest precision before sending context to the LLM.</a:t>
            </a:r>
          </a:p>
          <a:p>
            <a:pPr lvl="1" marL="527344" indent="-202824" defTabSz="324518">
              <a:spcBef>
                <a:spcPts val="400"/>
              </a:spcBef>
              <a:defRPr sz="1900"/>
            </a:pPr>
            <a:r>
              <a:t>Reranks the hybrid union for better answer quality.</a:t>
            </a:r>
          </a:p>
          <a:p>
            <a:pPr lvl="1" marL="527344" indent="-202824" defTabSz="324518">
              <a:spcBef>
                <a:spcPts val="400"/>
              </a:spcBef>
              <a:defRPr sz="1900"/>
            </a:pPr>
            <a:r>
              <a:t>Compares the retrieved docs directly with the query.</a:t>
            </a:r>
          </a:p>
        </p:txBody>
      </p:sp>
      <p:sp>
        <p:nvSpPr>
          <p:cNvPr id="104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>
            <a:lvl1pPr defTabSz="393190">
              <a:defRPr sz="3700"/>
            </a:lvl1pPr>
          </a:lstStyle>
          <a:p>
            <a:pPr/>
            <a:r>
              <a:t>Orchestration &amp; Pydantic State Management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98322" indent="-298322" defTabSz="397763">
              <a:spcBef>
                <a:spcPts val="600"/>
              </a:spcBef>
              <a:defRPr sz="2700"/>
            </a:pPr>
            <a:r>
              <a:t>Why LangGraph over standard Chaining?</a:t>
            </a:r>
          </a:p>
          <a:p>
            <a:pPr lvl="1" marL="646366" indent="-248602" defTabSz="397763">
              <a:spcBef>
                <a:spcPts val="500"/>
              </a:spcBef>
              <a:defRPr sz="2400"/>
            </a:pPr>
            <a:r>
              <a:t>Financial workflows require full state visibility and explicit loop control, avoiding stochastic LLM routing.</a:t>
            </a:r>
          </a:p>
          <a:p>
            <a:pPr marL="298322" indent="-298322" defTabSz="397763">
              <a:spcBef>
                <a:spcPts val="600"/>
              </a:spcBef>
              <a:defRPr sz="2700"/>
            </a:pPr>
            <a:r>
              <a:t>Strict State Typing with Pydantic:</a:t>
            </a:r>
          </a:p>
          <a:p>
            <a:pPr lvl="1" marL="646366" indent="-248602" defTabSz="397763">
              <a:spcBef>
                <a:spcPts val="500"/>
              </a:spcBef>
              <a:defRPr sz="2400"/>
            </a:pPr>
            <a:r>
              <a:t>The graph's state object is strongly typed via Pydantic.</a:t>
            </a:r>
          </a:p>
          <a:p>
            <a:pPr lvl="1" marL="646366" indent="-248602" defTabSz="397763">
              <a:spcBef>
                <a:spcPts val="500"/>
              </a:spcBef>
              <a:defRPr sz="2400"/>
            </a:pPr>
            <a:r>
              <a:t>Guarantees schema validation across node transitions, ensuring predictable data mutation.</a:t>
            </a:r>
          </a:p>
          <a:p>
            <a:pPr marL="298322" indent="-298322" defTabSz="397763">
              <a:spcBef>
                <a:spcPts val="600"/>
              </a:spcBef>
              <a:defRPr sz="2700"/>
            </a:pPr>
            <a:r>
              <a:t>State Persistence (Checkpointing):</a:t>
            </a:r>
          </a:p>
          <a:p>
            <a:pPr lvl="1" marL="646366" indent="-248602" defTabSz="397763">
              <a:spcBef>
                <a:spcPts val="500"/>
              </a:spcBef>
              <a:defRPr sz="2400"/>
            </a:pPr>
            <a:r>
              <a:t>State is persisted via thread_id, allowing the graph to safely pause (interrupt) for user input without context loss.</a:t>
            </a:r>
          </a:p>
        </p:txBody>
      </p:sp>
      <p:sp>
        <p:nvSpPr>
          <p:cNvPr id="108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2"/>
          <p:cNvSpPr txBox="1"/>
          <p:nvPr/>
        </p:nvSpPr>
        <p:spPr>
          <a:xfrm>
            <a:off x="502919" y="182878"/>
            <a:ext cx="6596218" cy="78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</a:p>
          <a:p>
            <a:pPr>
              <a:defRPr b="1" sz="3200"/>
            </a:pPr>
            <a:r>
              <a:t>Agent Node Strategy &amp; Execution Flow</a:t>
            </a:r>
          </a:p>
        </p:txBody>
      </p:sp>
      <p:sp>
        <p:nvSpPr>
          <p:cNvPr id="112" name="TextBox 4"/>
          <p:cNvSpPr txBox="1"/>
          <p:nvPr/>
        </p:nvSpPr>
        <p:spPr>
          <a:xfrm>
            <a:off x="5779665" y="1381817"/>
            <a:ext cx="3108963" cy="3747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defRPr b="1" sz="1600"/>
            </a:pPr>
            <a:r>
              <a:t>Small LLM First Strategy:</a:t>
            </a:r>
          </a:p>
          <a:p>
            <a:pPr>
              <a:defRPr sz="1400"/>
            </a:pPr>
            <a:r>
              <a:t>The Planner uses a fast, low-parameter model purely for structured entity extraction (Company, Year).</a:t>
            </a:r>
          </a:p>
          <a:p>
            <a:pPr>
              <a:spcBef>
                <a:spcPts val="1400"/>
              </a:spcBef>
              <a:defRPr b="1" sz="1600"/>
            </a:pPr>
            <a:r>
              <a:t>Reserve Large Models:</a:t>
            </a:r>
          </a:p>
          <a:p>
            <a:pPr>
              <a:defRPr sz="1400"/>
            </a:pPr>
            <a:r>
              <a:t>Only the final Answer node uses an expensive reasoning model, minimizing token cost and latency.</a:t>
            </a:r>
          </a:p>
          <a:p>
            <a:pPr>
              <a:spcBef>
                <a:spcPts val="1400"/>
              </a:spcBef>
              <a:defRPr b="1" sz="1600"/>
            </a:pPr>
            <a:r>
              <a:t>Single-Responsibility Nodes:</a:t>
            </a:r>
          </a:p>
          <a:p>
            <a:pPr>
              <a:defRPr sz="1400"/>
            </a:pPr>
            <a:r>
              <a:t>Each node executes one explicit task. Edges are controlled by Python logic, not LLM guesses</a:t>
            </a:r>
          </a:p>
        </p:txBody>
      </p:sp>
      <p:pic>
        <p:nvPicPr>
          <p:cNvPr id="11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6147" y="1269540"/>
            <a:ext cx="5487083" cy="4318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>
            <a:lvl1pPr defTabSz="393190">
              <a:defRPr sz="3700"/>
            </a:lvl1pPr>
          </a:lstStyle>
          <a:p>
            <a:pPr/>
            <a:r>
              <a:t>Deterministic Guardrails: The Clarify Gate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05178" indent="-305178" defTabSz="406908">
              <a:spcBef>
                <a:spcPts val="600"/>
              </a:spcBef>
              <a:defRPr sz="2800"/>
            </a:pPr>
            <a:r>
              <a:t>Why SQL First? (Zero Hallucination Routing)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By executing SQL against DuckDB first, we filter the allowed candidate set before touching vectors.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Mathematically eliminates the LLM hallucinating data from the wrong company.</a:t>
            </a:r>
          </a:p>
          <a:p>
            <a:pPr marL="305178" indent="-305178" defTabSz="406908">
              <a:spcBef>
                <a:spcPts val="600"/>
              </a:spcBef>
              <a:defRPr sz="2800"/>
            </a:pPr>
            <a:r>
              <a:t>The 0, 1, &gt;1 Rule: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0 Matches -&gt; Halt execution. Target not in corpus.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1 Match -&gt; Exact target resolved. Proceed silently.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&gt; 1 Match -&gt; Interrupt. Force user to clarify based on exact database options.</a:t>
            </a:r>
          </a:p>
        </p:txBody>
      </p:sp>
      <p:sp>
        <p:nvSpPr>
          <p:cNvPr id="117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>
            <a:lvl1pPr defTabSz="393190">
              <a:defRPr sz="3700"/>
            </a:lvl1pPr>
          </a:lstStyle>
          <a:p>
            <a:pPr/>
            <a:r>
              <a:t>Stateless Design: Eliminating Attention Drift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96024" indent="-296024" defTabSz="394700">
              <a:spcBef>
                <a:spcPts val="500"/>
              </a:spcBef>
              <a:defRPr sz="2700"/>
            </a:pPr>
            <a:r>
              <a:t>The Danger of Long-Term Memory in  RAG:</a:t>
            </a:r>
          </a:p>
          <a:p>
            <a:pPr lvl="1" marL="641387" indent="-246687" defTabSz="394700">
              <a:spcBef>
                <a:spcPts val="400"/>
              </a:spcBef>
              <a:defRPr sz="2300"/>
            </a:pPr>
            <a:r>
              <a:t>Passing full chat history back into the LLM inevitably causes 'attention drift'.</a:t>
            </a:r>
          </a:p>
          <a:p>
            <a:pPr lvl="1" marL="641387" indent="-246687" defTabSz="394700">
              <a:spcBef>
                <a:spcPts val="400"/>
              </a:spcBef>
              <a:defRPr sz="2300"/>
            </a:pPr>
            <a:r>
              <a:t>The LLM begins confusing constraints from 10 messages ago with the current query, destroying accuracy.</a:t>
            </a:r>
          </a:p>
          <a:p>
            <a:pPr marL="296024" indent="-296024" defTabSz="394700">
              <a:spcBef>
                <a:spcPts val="500"/>
              </a:spcBef>
              <a:defRPr sz="2700"/>
            </a:pPr>
            <a:r>
              <a:t>Solution: One turn based Chatbot.</a:t>
            </a:r>
          </a:p>
          <a:p>
            <a:pPr lvl="1" marL="641387" indent="-246687" defTabSz="394700">
              <a:spcBef>
                <a:spcPts val="400"/>
              </a:spcBef>
              <a:defRPr sz="2300"/>
            </a:pPr>
            <a:r>
              <a:t>Every single query is treated as a fresh, strict database lookup.</a:t>
            </a:r>
          </a:p>
          <a:p>
            <a:pPr lvl="1" marL="641387" indent="-246687" defTabSz="394700">
              <a:spcBef>
                <a:spcPts val="400"/>
              </a:spcBef>
              <a:defRPr sz="2300"/>
            </a:pPr>
            <a:r>
              <a:t>The User can have one turn to clarify the ambiguity, the agent will ask the question to clarify.</a:t>
            </a:r>
          </a:p>
          <a:p>
            <a:pPr lvl="1" marL="641387" indent="-246687" defTabSz="394700">
              <a:spcBef>
                <a:spcPts val="400"/>
              </a:spcBef>
              <a:defRPr sz="2300"/>
            </a:pPr>
            <a:r>
              <a:t>The 100th question in a session is mathematically guaranteed to be as precise and grounded as the 1st.</a:t>
            </a:r>
          </a:p>
        </p:txBody>
      </p:sp>
      <p:sp>
        <p:nvSpPr>
          <p:cNvPr id="121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/>
          <p:nvPr>
            <p:ph type="title"/>
          </p:nvPr>
        </p:nvSpPr>
        <p:spPr>
          <a:xfrm>
            <a:off x="457200" y="274637"/>
            <a:ext cx="8229600" cy="1143004"/>
          </a:xfrm>
          <a:prstGeom prst="rect">
            <a:avLst/>
          </a:prstGeom>
        </p:spPr>
        <p:txBody>
          <a:bodyPr/>
          <a:lstStyle>
            <a:lvl1pPr defTabSz="393190">
              <a:defRPr sz="3700"/>
            </a:lvl1pPr>
          </a:lstStyle>
          <a:p>
            <a:pPr/>
            <a:r>
              <a:t>Explainability.</a:t>
            </a:r>
          </a:p>
        </p:txBody>
      </p:sp>
      <p:sp>
        <p:nvSpPr>
          <p:cNvPr id="12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05178" indent="-305178" defTabSz="406908">
              <a:spcBef>
                <a:spcPts val="600"/>
              </a:spcBef>
              <a:defRPr sz="2800"/>
            </a:pPr>
            <a:r>
              <a:t>Reasoning: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The agent always has the reasoning so the user can understand the rationale behind the generated answer.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</a:p>
          <a:p>
            <a:pPr marL="261581" indent="-261581" defTabSz="406908">
              <a:spcBef>
                <a:spcPts val="600"/>
              </a:spcBef>
              <a:defRPr sz="2400"/>
            </a:pPr>
            <a:r>
              <a:t>Citation:</a:t>
            </a:r>
            <a:endParaRPr sz="2800"/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Every single answer is backed by citations directly from the source.</a:t>
            </a:r>
          </a:p>
          <a:p>
            <a:pPr lvl="1" marL="661223" indent="-254315" defTabSz="406908">
              <a:spcBef>
                <a:spcPts val="500"/>
              </a:spcBef>
              <a:defRPr sz="2400"/>
            </a:pPr>
            <a:r>
              <a:t>Improves explainability of the answers.</a:t>
            </a:r>
          </a:p>
        </p:txBody>
      </p:sp>
      <p:sp>
        <p:nvSpPr>
          <p:cNvPr id="125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Latency &amp; Execution Controls</a:t>
            </a:r>
          </a:p>
        </p:txBody>
      </p:sp>
      <p:sp>
        <p:nvSpPr>
          <p:cNvPr id="128" name="Content Placeholder 2"/>
          <p:cNvSpPr txBox="1"/>
          <p:nvPr>
            <p:ph type="body" idx="1"/>
          </p:nvPr>
        </p:nvSpPr>
        <p:spPr>
          <a:xfrm>
            <a:off x="457200" y="1550353"/>
            <a:ext cx="8229601" cy="4525965"/>
          </a:xfrm>
          <a:prstGeom prst="rect">
            <a:avLst/>
          </a:prstGeom>
        </p:spPr>
        <p:txBody>
          <a:bodyPr/>
          <a:lstStyle/>
          <a:p>
            <a:pPr marL="241640" indent="-241640" defTabSz="322186">
              <a:spcBef>
                <a:spcPts val="500"/>
              </a:spcBef>
              <a:defRPr sz="2100"/>
            </a:pPr>
            <a:r>
              <a:t>Target Latency SLA (~1.6s End-to-End):</a:t>
            </a:r>
          </a:p>
          <a:p>
            <a:pPr lvl="1" marL="523555" indent="-201366" defTabSz="322186">
              <a:spcBef>
                <a:spcPts val="400"/>
              </a:spcBef>
              <a:defRPr sz="1900"/>
            </a:pPr>
            <a:r>
              <a:t>Plan (Small LLM): ~200ms</a:t>
            </a:r>
          </a:p>
          <a:p>
            <a:pPr lvl="1" marL="523555" indent="-201366" defTabSz="322186">
              <a:spcBef>
                <a:spcPts val="400"/>
              </a:spcBef>
              <a:defRPr sz="1900"/>
            </a:pPr>
            <a:r>
              <a:t>Clarify Gate (DuckDB): &lt;5ms (Fail-fast validation)</a:t>
            </a:r>
          </a:p>
          <a:p>
            <a:pPr lvl="1" marL="523555" indent="-201366" defTabSz="322186">
              <a:spcBef>
                <a:spcPts val="400"/>
              </a:spcBef>
              <a:defRPr sz="1900"/>
            </a:pPr>
            <a:r>
              <a:t>Hybrid Union + Cross-Encoder: ~150ms</a:t>
            </a:r>
          </a:p>
          <a:p>
            <a:pPr lvl="1" marL="523555" indent="-201366" defTabSz="322186">
              <a:spcBef>
                <a:spcPts val="400"/>
              </a:spcBef>
              <a:defRPr sz="1900"/>
            </a:pPr>
            <a:r>
              <a:t>Answer Synthesis: ~1.2s (Streaming)</a:t>
            </a:r>
          </a:p>
          <a:p>
            <a:pPr marL="241640" indent="-241640" defTabSz="322186">
              <a:spcBef>
                <a:spcPts val="500"/>
              </a:spcBef>
              <a:defRPr sz="2100"/>
            </a:pPr>
            <a:r>
              <a:t>Strict Retry Caps:</a:t>
            </a:r>
          </a:p>
          <a:p>
            <a:pPr lvl="1" marL="523555" indent="-201366" defTabSz="322186">
              <a:spcBef>
                <a:spcPts val="400"/>
              </a:spcBef>
              <a:defRPr sz="1900"/>
            </a:pPr>
            <a:r>
              <a:t>O(1) loop depth limit (max_iterations = 2). Graph explicitly prevents infinite execution.</a:t>
            </a:r>
          </a:p>
          <a:p>
            <a:pPr marL="241640" indent="-241640" defTabSz="322186">
              <a:spcBef>
                <a:spcPts val="500"/>
              </a:spcBef>
              <a:defRPr sz="2100"/>
            </a:pPr>
            <a:r>
              <a:t>Token Budget Management:</a:t>
            </a:r>
          </a:p>
          <a:p>
            <a:pPr lvl="1" marL="523555" indent="-201366" defTabSz="322186">
              <a:spcBef>
                <a:spcPts val="400"/>
              </a:spcBef>
              <a:defRPr sz="1900"/>
            </a:pPr>
            <a:r>
              <a:t>Cross-Encoder strictly caps LLM input context to &lt;2,000 tokens.</a:t>
            </a:r>
          </a:p>
          <a:p>
            <a:pPr marL="298322" indent="-298322" defTabSz="397763">
              <a:spcBef>
                <a:spcPts val="600"/>
              </a:spcBef>
              <a:defRPr sz="2700"/>
            </a:pPr>
            <a:r>
              <a:t>Dynamic Search Depth: k expands on retries to prevent placebo loops.</a:t>
            </a:r>
          </a:p>
        </p:txBody>
      </p:sp>
      <p:sp>
        <p:nvSpPr>
          <p:cNvPr id="129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Model Risk Management (MRM)</a:t>
            </a:r>
          </a:p>
        </p:txBody>
      </p:sp>
      <p:sp>
        <p:nvSpPr>
          <p:cNvPr id="13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32613" indent="-332613" defTabSz="443483">
              <a:defRPr sz="3100"/>
            </a:pPr>
            <a:r>
              <a:t>100% Traceability</a:t>
            </a:r>
          </a:p>
          <a:p>
            <a:pPr lvl="1" marL="720661" indent="-277177" defTabSz="443483">
              <a:spcBef>
                <a:spcPts val="600"/>
              </a:spcBef>
              <a:defRPr sz="2700"/>
            </a:pPr>
            <a:r>
              <a:t>The Pydantic state object records every SQL match, candidate score, and node transition.</a:t>
            </a:r>
          </a:p>
          <a:p>
            <a:pPr marL="332613" indent="-332613" defTabSz="443483">
              <a:defRPr sz="3100"/>
            </a:pPr>
            <a:r>
              <a:t>Audit-Ready Logs</a:t>
            </a:r>
          </a:p>
          <a:p>
            <a:pPr lvl="1" marL="720661" indent="-277177" defTabSz="443483">
              <a:spcBef>
                <a:spcPts val="600"/>
              </a:spcBef>
              <a:defRPr sz="2700"/>
            </a:pPr>
            <a:r>
              <a:t>Execution traces can be piped directly to internal telemetry platforms for MRM compliance.</a:t>
            </a:r>
          </a:p>
          <a:p>
            <a:pPr marL="332613" indent="-332613" defTabSz="443483">
              <a:defRPr sz="3100"/>
            </a:pPr>
            <a:r>
              <a:t>Deterministic Citations</a:t>
            </a:r>
          </a:p>
          <a:p>
            <a:pPr lvl="1" marL="720661" indent="-277177" defTabSz="443483">
              <a:spcBef>
                <a:spcPts val="600"/>
              </a:spcBef>
              <a:defRPr sz="2700"/>
            </a:pPr>
            <a:r>
              <a:t>Every generated claim is hard-bound to a specific chunk_id and SEC canonical source URL.</a:t>
            </a:r>
          </a:p>
        </p:txBody>
      </p:sp>
      <p:sp>
        <p:nvSpPr>
          <p:cNvPr id="133" name="Rectangle 3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2"/>
          <p:cNvSpPr txBox="1"/>
          <p:nvPr/>
        </p:nvSpPr>
        <p:spPr>
          <a:xfrm>
            <a:off x="313525" y="304672"/>
            <a:ext cx="3196191" cy="78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</a:p>
          <a:p>
            <a:pPr>
              <a:defRPr b="1" sz="3200"/>
            </a:pPr>
            <a:r>
              <a:t>User Interface (UI)</a:t>
            </a:r>
          </a:p>
        </p:txBody>
      </p:sp>
      <p:pic>
        <p:nvPicPr>
          <p:cNvPr id="137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446" y="1256570"/>
            <a:ext cx="8941108" cy="45683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2"/>
          <p:cNvSpPr txBox="1"/>
          <p:nvPr/>
        </p:nvSpPr>
        <p:spPr>
          <a:xfrm>
            <a:off x="502919" y="182880"/>
            <a:ext cx="6181682" cy="992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3200"/>
            </a:pPr>
            <a:r>
              <a:t>Examples of the Agents : </a:t>
            </a:r>
            <a:br/>
            <a:r>
              <a:t>1. Multi planning with planner node</a:t>
            </a:r>
          </a:p>
        </p:txBody>
      </p:sp>
      <p:pic>
        <p:nvPicPr>
          <p:cNvPr id="141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rcRect l="0" t="0" r="4971" b="0"/>
          <a:stretch>
            <a:fillRect/>
          </a:stretch>
        </p:blipFill>
        <p:spPr>
          <a:xfrm>
            <a:off x="74810" y="1373524"/>
            <a:ext cx="8994355" cy="42739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2"/>
          <p:cNvSpPr txBox="1"/>
          <p:nvPr/>
        </p:nvSpPr>
        <p:spPr>
          <a:xfrm>
            <a:off x="502919" y="182878"/>
            <a:ext cx="8267657" cy="78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</a:p>
          <a:p>
            <a:pPr>
              <a:defRPr b="1" sz="3200"/>
            </a:pPr>
            <a:r>
              <a:t>2. Clarify: Resolving Ambiguity with Clarify Node</a:t>
            </a:r>
          </a:p>
        </p:txBody>
      </p:sp>
      <p:pic>
        <p:nvPicPr>
          <p:cNvPr id="145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rcRect l="567" t="10546" r="4884" b="0"/>
          <a:stretch>
            <a:fillRect/>
          </a:stretch>
        </p:blipFill>
        <p:spPr>
          <a:xfrm>
            <a:off x="145849" y="1755786"/>
            <a:ext cx="8852237" cy="37768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larify: Multi-turn"/>
          <p:cNvSpPr txBox="1"/>
          <p:nvPr/>
        </p:nvSpPr>
        <p:spPr>
          <a:xfrm>
            <a:off x="262583" y="133731"/>
            <a:ext cx="3150748" cy="78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</a:p>
          <a:p>
            <a:pPr>
              <a:defRPr b="1" sz="3200"/>
            </a:pPr>
            <a:r>
              <a:t>Clarify: Multi-turn</a:t>
            </a:r>
          </a:p>
        </p:txBody>
      </p:sp>
      <p:pic>
        <p:nvPicPr>
          <p:cNvPr id="148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rcRect l="12322" t="19631" r="0" b="257"/>
          <a:stretch>
            <a:fillRect/>
          </a:stretch>
        </p:blipFill>
        <p:spPr>
          <a:xfrm>
            <a:off x="108476" y="1296864"/>
            <a:ext cx="8712983" cy="41049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-2"/>
            <a:ext cx="9144000" cy="1371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2"/>
          <p:cNvSpPr txBox="1"/>
          <p:nvPr/>
        </p:nvSpPr>
        <p:spPr>
          <a:xfrm>
            <a:off x="502919" y="182878"/>
            <a:ext cx="6788107" cy="78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</a:p>
          <a:p>
            <a:pPr>
              <a:defRPr b="1" sz="3200"/>
            </a:pPr>
            <a:r>
              <a:t>3. Context Verification with Verify Node</a:t>
            </a:r>
          </a:p>
        </p:txBody>
      </p:sp>
      <p:pic>
        <p:nvPicPr>
          <p:cNvPr id="15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12816" t="48464" r="0" b="0"/>
          <a:stretch>
            <a:fillRect/>
          </a:stretch>
        </p:blipFill>
        <p:spPr>
          <a:xfrm>
            <a:off x="33336" y="1857354"/>
            <a:ext cx="9077268" cy="28195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