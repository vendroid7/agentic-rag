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4884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>
                <a:solidFill>
                  <a:srgbClr val="121826"/>
                </a:solidFill>
                <a:latin typeface="Calibri"/>
              </a:rPr>
              <a:t>Agentic RAG over SEC 10-K filings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3794760"/>
            <a:ext cx="914400" cy="4114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5B6678"/>
                </a:solidFill>
                <a:latin typeface="Consolas"/>
              </a:rPr>
              <a:t>Venkatesh Giri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5B6678"/>
                </a:solidFill>
                <a:latin typeface="Consolas"/>
              </a:rPr>
              <a:t>An agent that plans, asks when it needs to, and cites what it used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0C7A6D"/>
                </a:solidFill>
                <a:latin typeface="Consolas"/>
              </a:rPr>
              <a:t>Python · LangGraph · FAISS + BM25 · DuckDB · Llama 3.3 70B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B06A00"/>
                </a:solidFill>
                <a:latin typeface="Consolas"/>
              </a:rPr>
              <a:t>sec-filling-chat.streamlit.app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51087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A STANDARD PIPELINE RUNS THE SAME STEPS EVERY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88831"/>
            <a:ext cx="539496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735135"/>
            <a:ext cx="1078992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121826"/>
                </a:solidFill>
                <a:latin typeface="Consolas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78085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2735135"/>
            <a:ext cx="1078992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121826"/>
                </a:solidFill>
                <a:latin typeface="Consolas"/>
              </a:rPr>
              <a:t>retrieve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8" y="278085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2735135"/>
            <a:ext cx="1078992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121826"/>
                </a:solidFill>
                <a:latin typeface="Consolas"/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5" y="278085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55464" y="2735135"/>
            <a:ext cx="877824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121826"/>
                </a:solidFill>
                <a:latin typeface="Consolas"/>
              </a:rPr>
              <a:t>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38639"/>
            <a:ext cx="5394960" cy="3904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52"/>
              </a:spcAft>
            </a:pPr>
            <a:r>
              <a:rPr sz="930">
                <a:solidFill>
                  <a:srgbClr val="C3CCDA"/>
                </a:solidFill>
              </a:rPr>
              <a:t>■  </a:t>
            </a:r>
            <a:r>
              <a:rPr sz="1500" b="0">
                <a:solidFill>
                  <a:srgbClr val="121826"/>
                </a:solidFill>
                <a:latin typeface="Calibri"/>
              </a:rPr>
              <a:t>Ask "what were the main revenue drivers?" and it answers from whichever filings the search happened to return.</a:t>
            </a:r>
          </a:p>
          <a:p>
            <a:pPr>
              <a:lnSpc>
                <a:spcPct val="115000"/>
              </a:lnSpc>
              <a:spcAft>
                <a:spcPts val="1152"/>
              </a:spcAft>
            </a:pPr>
            <a:r>
              <a:rPr sz="930">
                <a:solidFill>
                  <a:srgbClr val="C3CCDA"/>
                </a:solidFill>
              </a:rPr>
              <a:t>■  </a:t>
            </a:r>
            <a:r>
              <a:rPr sz="1500" b="0">
                <a:solidFill>
                  <a:srgbClr val="121826"/>
                </a:solidFill>
                <a:latin typeface="Calibri"/>
              </a:rPr>
              <a:t>If the wording misses the filing's language, there is no second 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1087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WHAT THE BRIEF ASKED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588831"/>
            <a:ext cx="502920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735135"/>
            <a:ext cx="5029200" cy="4507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52"/>
              </a:spcAft>
            </a:pPr>
            <a:r>
              <a:rPr sz="930">
                <a:solidFill>
                  <a:srgbClr val="B06A00"/>
                </a:solidFill>
              </a:rPr>
              <a:t>■  </a:t>
            </a:r>
            <a:r>
              <a:rPr sz="1500" b="1">
                <a:solidFill>
                  <a:srgbClr val="B06A00"/>
                </a:solidFill>
                <a:latin typeface="Calibri"/>
              </a:rPr>
              <a:t>Plans</a:t>
            </a:r>
            <a:r>
              <a:rPr sz="1500" b="0">
                <a:solidFill>
                  <a:srgbClr val="121826"/>
                </a:solidFill>
                <a:latin typeface="Calibri"/>
              </a:rPr>
              <a:t> its own approach per question</a:t>
            </a:r>
          </a:p>
          <a:p>
            <a:pPr>
              <a:lnSpc>
                <a:spcPct val="115000"/>
              </a:lnSpc>
              <a:spcAft>
                <a:spcPts val="1152"/>
              </a:spcAft>
            </a:pPr>
            <a:r>
              <a:rPr sz="930">
                <a:solidFill>
                  <a:srgbClr val="B06A00"/>
                </a:solidFill>
              </a:rPr>
              <a:t>■  </a:t>
            </a:r>
            <a:r>
              <a:rPr sz="1500" b="1">
                <a:solidFill>
                  <a:srgbClr val="B06A00"/>
                </a:solidFill>
                <a:latin typeface="Calibri"/>
              </a:rPr>
              <a:t>Asks</a:t>
            </a:r>
            <a:r>
              <a:rPr sz="1500" b="0">
                <a:solidFill>
                  <a:srgbClr val="121826"/>
                </a:solidFill>
                <a:latin typeface="Calibri"/>
              </a:rPr>
              <a:t> when the request is under-specified</a:t>
            </a:r>
          </a:p>
          <a:p>
            <a:pPr>
              <a:lnSpc>
                <a:spcPct val="115000"/>
              </a:lnSpc>
              <a:spcAft>
                <a:spcPts val="1152"/>
              </a:spcAft>
            </a:pPr>
            <a:r>
              <a:rPr sz="930">
                <a:solidFill>
                  <a:srgbClr val="B06A00"/>
                </a:solidFill>
              </a:rPr>
              <a:t>■  </a:t>
            </a:r>
            <a:r>
              <a:rPr sz="1500" b="1">
                <a:solidFill>
                  <a:srgbClr val="B06A00"/>
                </a:solidFill>
                <a:latin typeface="Calibri"/>
              </a:rPr>
              <a:t>Grounds</a:t>
            </a:r>
            <a:r>
              <a:rPr sz="1500" b="0">
                <a:solidFill>
                  <a:srgbClr val="121826"/>
                </a:solidFill>
                <a:latin typeface="Calibri"/>
              </a:rPr>
              <a:t> every answer in the filings</a:t>
            </a:r>
          </a:p>
          <a:p>
            <a:pPr>
              <a:lnSpc>
                <a:spcPct val="115000"/>
              </a:lnSpc>
              <a:spcAft>
                <a:spcPts val="1152"/>
              </a:spcAft>
            </a:pPr>
            <a:r>
              <a:rPr sz="930">
                <a:solidFill>
                  <a:srgbClr val="B06A00"/>
                </a:solidFill>
              </a:rPr>
              <a:t>■  </a:t>
            </a:r>
            <a:r>
              <a:rPr sz="1500" b="1">
                <a:solidFill>
                  <a:srgbClr val="B06A00"/>
                </a:solidFill>
                <a:latin typeface="Calibri"/>
              </a:rPr>
              <a:t>Shows its work</a:t>
            </a:r>
            <a:r>
              <a:rPr sz="1500" b="0">
                <a:solidFill>
                  <a:srgbClr val="121826"/>
                </a:solidFill>
                <a:latin typeface="Calibri"/>
              </a:rPr>
              <a:t> — the plan and the citations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957127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085143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>
                <a:solidFill>
                  <a:srgbClr val="5B6678"/>
                </a:solidFill>
                <a:latin typeface="Calibri"/>
              </a:rPr>
              <a:t>The hard part is not retrieval. It is knowing </a:t>
            </a:r>
            <a:r>
              <a:rPr sz="1150" b="1">
                <a:solidFill>
                  <a:srgbClr val="0C7A6D"/>
                </a:solidFill>
                <a:latin typeface="Calibri"/>
              </a:rPr>
              <a:t>when to ask</a:t>
            </a:r>
            <a:r>
              <a:rPr sz="1150" b="0">
                <a:solidFill>
                  <a:srgbClr val="5B6678"/>
                </a:solidFill>
                <a:latin typeface="Calibri"/>
              </a:rPr>
              <a:t> instead of </a:t>
            </a:r>
            <a:r>
              <a:rPr sz="1150" b="1">
                <a:solidFill>
                  <a:srgbClr val="0C7A6D"/>
                </a:solidFill>
                <a:latin typeface="Calibri"/>
              </a:rPr>
              <a:t>when to answer</a:t>
            </a:r>
            <a:r>
              <a:rPr sz="1150" b="0">
                <a:solidFill>
                  <a:srgbClr val="5B667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Calibri"/>
              </a:rPr>
              <a:t>Two subsystems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48751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OFFLINE · RUNS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86495"/>
            <a:ext cx="548640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332799"/>
            <a:ext cx="1179576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121826"/>
                </a:solidFill>
                <a:latin typeface="Consolas"/>
              </a:rPr>
              <a:t>SEC EDGAR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237851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2332799"/>
            <a:ext cx="1380744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121826"/>
                </a:solidFill>
                <a:latin typeface="Consolas"/>
              </a:rPr>
              <a:t>parse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5303" y="237851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67911" y="2332799"/>
            <a:ext cx="777240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121826"/>
                </a:solidFill>
                <a:latin typeface="Consolas"/>
              </a:rPr>
              <a:t>chunk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851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6048" y="2332799"/>
            <a:ext cx="777240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121826"/>
                </a:solidFill>
                <a:latin typeface="Consolas"/>
              </a:rPr>
              <a:t>embed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1575" y="2378519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3" y="2332799"/>
            <a:ext cx="2386584" cy="329184"/>
          </a:xfrm>
          <a:prstGeom prst="roundRect">
            <a:avLst/>
          </a:prstGeom>
          <a:solidFill>
            <a:srgbClr val="E7F4F2"/>
          </a:solidFill>
          <a:ln w="12700">
            <a:solidFill>
              <a:srgbClr val="0C7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0C7A6D"/>
                </a:solidFill>
                <a:latin typeface="Consolas"/>
              </a:rPr>
              <a:t>FAISS · DuckDB · BM25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54591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ONLINE · RUNS PER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92335"/>
            <a:ext cx="548640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338639"/>
            <a:ext cx="676656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121826"/>
                </a:solidFill>
                <a:latin typeface="Consolas"/>
              </a:rPr>
              <a:t>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0744" y="338435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73352" y="3338639"/>
            <a:ext cx="2286000" cy="329184"/>
          </a:xfrm>
          <a:prstGeom prst="roundRect">
            <a:avLst/>
          </a:prstGeom>
          <a:solidFill>
            <a:srgbClr val="FBF0DF"/>
          </a:solidFill>
          <a:ln w="12700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B06A00"/>
                </a:solidFill>
                <a:latin typeface="Consolas"/>
              </a:rPr>
              <a:t>LangGraph agent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38435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0248" y="3338639"/>
            <a:ext cx="1984248" cy="329184"/>
          </a:xfrm>
          <a:prstGeom prst="roundRect">
            <a:avLst/>
          </a:prstGeom>
          <a:solidFill>
            <a:srgbClr val="E7F4F2"/>
          </a:solidFill>
          <a:ln w="12700">
            <a:solidFill>
              <a:srgbClr val="0C7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>
                <a:solidFill>
                  <a:srgbClr val="0C7A6D"/>
                </a:solidFill>
                <a:latin typeface="Consolas"/>
              </a:rPr>
              <a:t>the three indices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24439"/>
            <a:ext cx="5394960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36">
                <a:solidFill>
                  <a:srgbClr val="0C7A6D"/>
                </a:solidFill>
              </a:rPr>
              <a:t>■  </a:t>
            </a:r>
            <a:r>
              <a:rPr sz="1350" b="1">
                <a:solidFill>
                  <a:srgbClr val="0C7A6D"/>
                </a:solidFill>
                <a:latin typeface="Calibri"/>
              </a:rPr>
              <a:t>Corpus:</a:t>
            </a:r>
            <a:r>
              <a:rPr sz="1350" b="0">
                <a:solidFill>
                  <a:srgbClr val="121826"/>
                </a:solidFill>
                <a:latin typeface="Calibri"/>
              </a:rPr>
              <a:t> 5 companies × FY2024–2025. </a:t>
            </a:r>
            <a:r>
              <a:rPr sz="1350" b="1">
                <a:solidFill>
                  <a:srgbClr val="B06A00"/>
                </a:solidFill>
                <a:latin typeface="Calibri"/>
              </a:rPr>
              <a:t>10 filings, 1,292 chunks, 7 Item sections.</a:t>
            </a:r>
            <a:r>
              <a:rPr sz="1350" b="0">
                <a:solidFill>
                  <a:srgbClr val="121826"/>
                </a:solidFill>
                <a:latin typeface="Calibri"/>
              </a:rPr>
              <a:t> Small enough to know exactly what is in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24439"/>
            <a:ext cx="5029200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36">
                <a:solidFill>
                  <a:srgbClr val="B06A00"/>
                </a:solidFill>
              </a:rPr>
              <a:t>■  </a:t>
            </a:r>
            <a:r>
              <a:rPr sz="1350" b="1">
                <a:solidFill>
                  <a:srgbClr val="0C7A6D"/>
                </a:solidFill>
                <a:latin typeface="Calibri"/>
              </a:rPr>
              <a:t>Why LangGraph:</a:t>
            </a:r>
            <a:r>
              <a:rPr sz="1350" b="0">
                <a:solidFill>
                  <a:srgbClr val="121826"/>
                </a:solidFill>
                <a:latin typeface="Calibri"/>
              </a:rPr>
              <a:t> the loop needs cycles and saved state. Its </a:t>
            </a:r>
            <a:r>
              <a:rPr sz="1350" b="0">
                <a:solidFill>
                  <a:srgbClr val="121826"/>
                </a:solidFill>
                <a:latin typeface="Consolas"/>
              </a:rPr>
              <a:t>interrupt</a:t>
            </a:r>
            <a:r>
              <a:rPr sz="1350" b="0">
                <a:solidFill>
                  <a:srgbClr val="121826"/>
                </a:solidFill>
                <a:latin typeface="Calibri"/>
              </a:rPr>
              <a:t> and checkpointer are what let a question pause a run and pick it up later. Doing that by hand means writing state persistence by hand.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359463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87479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>
                <a:solidFill>
                  <a:srgbClr val="5B6678"/>
                </a:solidFill>
                <a:latin typeface="Calibri"/>
              </a:rPr>
              <a:t>The built index is committed, so the whole thing runs with </a:t>
            </a:r>
            <a:r>
              <a:rPr sz="1150" b="0">
                <a:solidFill>
                  <a:srgbClr val="5B6678"/>
                </a:solidFill>
                <a:latin typeface="Consolas"/>
              </a:rPr>
              <a:t>uv sync</a:t>
            </a:r>
            <a:r>
              <a:rPr sz="1150" b="0">
                <a:solidFill>
                  <a:srgbClr val="5B6678"/>
                </a:solidFill>
                <a:latin typeface="Calibri"/>
              </a:rPr>
              <a:t> and one command — no ingestion, and no API key until you ask a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C7A6D"/>
                </a:solidFill>
                <a:latin typeface="Consolas"/>
              </a:rPr>
              <a:t>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Calibri"/>
              </a:rPr>
              <a:t>From filing to searchable chunk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777490"/>
            <a:ext cx="3200400" cy="38404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121826"/>
                </a:solidFill>
                <a:latin typeface="Consolas"/>
              </a:rPr>
              <a:t>fetch 10-K · edgartools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314325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99282"/>
            <a:ext cx="3200400" cy="38404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121826"/>
                </a:solidFill>
                <a:latin typeface="Consolas"/>
              </a:rPr>
              <a:t>split on Item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376504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21074"/>
            <a:ext cx="3200400" cy="38404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121826"/>
                </a:solidFill>
                <a:latin typeface="Consolas"/>
              </a:rPr>
              <a:t>chunk · 480 tokens / 64 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4386833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42865"/>
            <a:ext cx="3200400" cy="38404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121826"/>
                </a:solidFill>
                <a:latin typeface="Consolas"/>
              </a:rPr>
              <a:t>embed · bge-small-en-v1.5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777490"/>
            <a:ext cx="6629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THREE DECISIONS THAT MATTERED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015234"/>
            <a:ext cx="662940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161538"/>
            <a:ext cx="6629400" cy="4187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36">
                <a:solidFill>
                  <a:srgbClr val="0C7A6D"/>
                </a:solidFill>
              </a:rPr>
              <a:t>■  </a:t>
            </a:r>
            <a:r>
              <a:rPr sz="1350" b="1">
                <a:solidFill>
                  <a:srgbClr val="0C7A6D"/>
                </a:solidFill>
                <a:latin typeface="Calibri"/>
              </a:rPr>
              <a:t>Split on Items.</a:t>
            </a:r>
            <a:r>
              <a:rPr sz="1350" b="0">
                <a:solidFill>
                  <a:srgbClr val="121826"/>
                </a:solidFill>
                <a:latin typeface="Calibri"/>
              </a:rPr>
              <a:t> A 10-K's Items — 1A Risk Factors, 7 MD&amp;A — are already topic units, so a chunk rarely straddles two subjects.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36">
                <a:solidFill>
                  <a:srgbClr val="0C7A6D"/>
                </a:solidFill>
              </a:rPr>
              <a:t>■  </a:t>
            </a:r>
            <a:r>
              <a:rPr sz="1350" b="1">
                <a:solidFill>
                  <a:srgbClr val="0C7A6D"/>
                </a:solidFill>
                <a:latin typeface="Calibri"/>
              </a:rPr>
              <a:t>Count tokens, not characters.</a:t>
            </a:r>
            <a:r>
              <a:rPr sz="1350" b="0">
                <a:solidFill>
                  <a:srgbClr val="121826"/>
                </a:solidFill>
                <a:latin typeface="Calibri"/>
              </a:rPr>
              <a:t> 480 sits under the embedding model's 512 window, so nothing is quietly cut off at encode time. Character counting would fail without any error.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36">
                <a:solidFill>
                  <a:srgbClr val="0C7A6D"/>
                </a:solidFill>
              </a:rPr>
              <a:t>■  </a:t>
            </a:r>
            <a:r>
              <a:rPr sz="1350" b="1">
                <a:solidFill>
                  <a:srgbClr val="0C7A6D"/>
                </a:solidFill>
                <a:latin typeface="Calibri"/>
              </a:rPr>
              <a:t>One `chunk_id` across all three stores</a:t>
            </a:r>
            <a:r>
              <a:rPr sz="1350" b="0">
                <a:solidFill>
                  <a:srgbClr val="121826"/>
                </a:solidFill>
                <a:latin typeface="Calibri"/>
              </a:rPr>
              <a:t>, written in a single pass, so the vector, the row and the keyword entry always mean the same chunk.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C7A6D"/>
                </a:solidFill>
                <a:latin typeface="Consolas"/>
              </a:rPr>
              <a:t>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Calibri"/>
              </a:rPr>
              <a:t>Filter, search, then judge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90826"/>
            <a:ext cx="1158544" cy="329184"/>
          </a:xfrm>
          <a:prstGeom prst="roundRect">
            <a:avLst/>
          </a:prstGeom>
          <a:solidFill>
            <a:srgbClr val="E7F4F2"/>
          </a:solidFill>
          <a:ln w="12700">
            <a:solidFill>
              <a:srgbClr val="0C7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00">
                <a:solidFill>
                  <a:srgbClr val="0C7A6D"/>
                </a:solidFill>
                <a:latin typeface="Consolas"/>
              </a:rPr>
              <a:t>DuckDB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2632" y="233654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55240" y="2290826"/>
            <a:ext cx="1230782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00">
                <a:solidFill>
                  <a:srgbClr val="121826"/>
                </a:solidFill>
                <a:latin typeface="Consolas"/>
              </a:rPr>
              <a:t>dense · top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4311" y="233654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96919" y="2290826"/>
            <a:ext cx="1303020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00">
                <a:solidFill>
                  <a:srgbClr val="121826"/>
                </a:solidFill>
                <a:latin typeface="Consolas"/>
              </a:rPr>
              <a:t>sparse · top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8227" y="233654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10835" y="2290826"/>
            <a:ext cx="1519732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6C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00">
                <a:solidFill>
                  <a:srgbClr val="121826"/>
                </a:solidFill>
                <a:latin typeface="Consolas"/>
              </a:rPr>
              <a:t>union · 28 typical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855" y="233654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1464" y="2290826"/>
            <a:ext cx="1158544" cy="329184"/>
          </a:xfrm>
          <a:prstGeom prst="roundRect">
            <a:avLst/>
          </a:prstGeom>
          <a:solidFill>
            <a:srgbClr val="FBF0DF"/>
          </a:solidFill>
          <a:ln w="12700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00">
                <a:solidFill>
                  <a:srgbClr val="B06A00"/>
                </a:solidFill>
                <a:latin typeface="Consolas"/>
              </a:rPr>
              <a:t>cross-encoder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6" y="233654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9AA6B8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10904" y="2290826"/>
            <a:ext cx="1808683" cy="329184"/>
          </a:xfrm>
          <a:prstGeom prst="roundRect">
            <a:avLst/>
          </a:prstGeom>
          <a:solidFill>
            <a:srgbClr val="FBF0DF"/>
          </a:solidFill>
          <a:ln w="12700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00">
                <a:solidFill>
                  <a:srgbClr val="B06A00"/>
                </a:solidFill>
                <a:latin typeface="Consolas"/>
              </a:rPr>
              <a:t>top 4 per sub-question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12618"/>
            <a:ext cx="3520440" cy="4041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8"/>
              </a:spcAft>
            </a:pPr>
            <a:r>
              <a:rPr sz="836">
                <a:solidFill>
                  <a:srgbClr val="0C7A6D"/>
                </a:solidFill>
              </a:rPr>
              <a:t>■  </a:t>
            </a:r>
            <a:r>
              <a:rPr sz="1350" b="1">
                <a:solidFill>
                  <a:srgbClr val="0C7A6D"/>
                </a:solidFill>
                <a:latin typeface="Calibri"/>
              </a:rPr>
              <a:t>The filing is fixed first.</a:t>
            </a:r>
            <a:r>
              <a:rPr sz="1350" b="0">
                <a:solidFill>
                  <a:srgbClr val="121826"/>
                </a:solidFill>
                <a:latin typeface="Calibri"/>
              </a:rPr>
              <a:t> The dense search is restricted to the matching chunks before it runs; the keyword arm scores and then filters. Either way nothing from the wrong company or year survives.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912618"/>
            <a:ext cx="3520440" cy="4041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8"/>
              </a:spcAft>
            </a:pPr>
            <a:r>
              <a:rPr sz="836">
                <a:solidFill>
                  <a:srgbClr val="C3CCDA"/>
                </a:solidFill>
              </a:rPr>
              <a:t>■  </a:t>
            </a:r>
            <a:r>
              <a:rPr sz="1350" b="1">
                <a:solidFill>
                  <a:srgbClr val="0C7A6D"/>
                </a:solidFill>
                <a:latin typeface="Calibri"/>
              </a:rPr>
              <a:t>Dense</a:t>
            </a:r>
            <a:r>
              <a:rPr sz="1350" b="0">
                <a:solidFill>
                  <a:srgbClr val="121826"/>
                </a:solidFill>
                <a:latin typeface="Calibri"/>
              </a:rPr>
              <a:t> finds meaning — "supplier risk" reaches "supplier concentration". </a:t>
            </a:r>
            <a:r>
              <a:rPr sz="1350" b="1">
                <a:solidFill>
                  <a:srgbClr val="0C7A6D"/>
                </a:solidFill>
                <a:latin typeface="Calibri"/>
              </a:rPr>
              <a:t>Sparse</a:t>
            </a:r>
            <a:r>
              <a:rPr sz="1350" b="0">
                <a:solidFill>
                  <a:srgbClr val="121826"/>
                </a:solidFill>
                <a:latin typeface="Calibri"/>
              </a:rPr>
              <a:t> finds exact strings — tickers, </a:t>
            </a:r>
            <a:r>
              <a:rPr sz="1350" b="0">
                <a:solidFill>
                  <a:srgbClr val="121826"/>
                </a:solidFill>
                <a:latin typeface="Consolas"/>
              </a:rPr>
              <a:t>Item 1A</a:t>
            </a:r>
            <a:r>
              <a:rPr sz="1350" b="0">
                <a:solidFill>
                  <a:srgbClr val="121826"/>
                </a:solidFill>
                <a:latin typeface="Calibri"/>
              </a:rPr>
              <a:t>, defined terms.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912618"/>
            <a:ext cx="3520440" cy="4041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8"/>
              </a:spcAft>
            </a:pPr>
            <a:r>
              <a:rPr sz="836">
                <a:solidFill>
                  <a:srgbClr val="B06A00"/>
                </a:solidFill>
              </a:rPr>
              <a:t>■  </a:t>
            </a:r>
            <a:r>
              <a:rPr sz="1350" b="0">
                <a:solidFill>
                  <a:srgbClr val="121826"/>
                </a:solidFill>
                <a:latin typeface="Calibri"/>
              </a:rPr>
              <a:t>Both scores are then </a:t>
            </a:r>
            <a:r>
              <a:rPr sz="1350" b="1">
                <a:solidFill>
                  <a:srgbClr val="B06A00"/>
                </a:solidFill>
                <a:latin typeface="Calibri"/>
              </a:rPr>
              <a:t>set aside</a:t>
            </a:r>
            <a:r>
              <a:rPr sz="1350" b="0">
                <a:solidFill>
                  <a:srgbClr val="121826"/>
                </a:solidFill>
                <a:latin typeface="Calibri"/>
              </a:rPr>
              <a:t>. They only choose who becomes a candidate; the cross-encoder re-scores everything and is the only ranker.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80814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0883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solidFill>
                  <a:srgbClr val="5B6678"/>
                </a:solidFill>
                <a:latin typeface="Calibri"/>
              </a:rPr>
              <a:t>Two arms of 20 could give 40, but across eight questions the union came to </a:t>
            </a:r>
            <a:r>
              <a:rPr sz="1100" b="1">
                <a:solidFill>
                  <a:srgbClr val="0C7A6D"/>
                </a:solidFill>
                <a:latin typeface="Calibri"/>
              </a:rPr>
              <a:t>28</a:t>
            </a:r>
            <a:r>
              <a:rPr sz="1100" b="0">
                <a:solidFill>
                  <a:srgbClr val="5B6678"/>
                </a:solidFill>
                <a:latin typeface="Calibri"/>
              </a:rPr>
              <a:t> — the arms agree on about 7, and BM25 returns only chunks that actually match a term (for "CEO's favourite colour" it returned none, and dense carried the search alone). Of the four passages finally kept, </a:t>
            </a:r>
            <a:r>
              <a:rPr sz="1100" b="1">
                <a:solidFill>
                  <a:srgbClr val="0C7A6D"/>
                </a:solidFill>
                <a:latin typeface="Calibri"/>
              </a:rPr>
              <a:t>3 in 4 were found by both arms</a:t>
            </a:r>
            <a:r>
              <a:rPr sz="1100" b="0">
                <a:solidFill>
                  <a:srgbClr val="5B6678"/>
                </a:solidFill>
                <a:latin typeface="Calibri"/>
              </a:rPr>
              <a:t>. Mean reranker confidence in them is </a:t>
            </a:r>
            <a:r>
              <a:rPr sz="1100" b="1">
                <a:solidFill>
                  <a:srgbClr val="0C7A6D"/>
                </a:solidFill>
                <a:latin typeface="Calibri"/>
              </a:rPr>
              <a:t>41%</a:t>
            </a:r>
            <a:r>
              <a:rPr sz="1100" b="0">
                <a:solidFill>
                  <a:srgbClr val="5B6678"/>
                </a:solidFill>
                <a:latin typeface="Calibri"/>
              </a:rPr>
              <a:t>, and it tracks what the agent does next: 85–92% on questions it answers straight away, near zero on the two it refines or refuses.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C7A6D"/>
                </a:solidFill>
                <a:latin typeface="Consolas"/>
              </a:rPr>
              <a:t>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>
                <a:solidFill>
                  <a:srgbClr val="121826"/>
                </a:solidFill>
                <a:latin typeface="Calibri"/>
              </a:rPr>
              <a:t>Five nodes — and the four things decide can do</a:t>
            </a:r>
          </a:p>
        </p:txBody>
      </p:sp>
      <p:pic>
        <p:nvPicPr>
          <p:cNvPr id="4" name="Picture 3" descr="loo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10424160" cy="38818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5532120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660136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B06A00"/>
                </a:solidFill>
                <a:latin typeface="Calibri"/>
              </a:rPr>
              <a:t>Two nodes make a choice</a:t>
            </a:r>
            <a:r>
              <a:rPr sz="1150" b="0">
                <a:solidFill>
                  <a:srgbClr val="5B6678"/>
                </a:solidFill>
                <a:latin typeface="Calibri"/>
              </a:rPr>
              <a:t> — </a:t>
            </a:r>
            <a:r>
              <a:rPr sz="1150" b="0">
                <a:solidFill>
                  <a:srgbClr val="5B6678"/>
                </a:solidFill>
                <a:latin typeface="Consolas"/>
              </a:rPr>
              <a:t>clarify</a:t>
            </a:r>
            <a:r>
              <a:rPr sz="1150" b="0">
                <a:solidFill>
                  <a:srgbClr val="5B6678"/>
                </a:solidFill>
                <a:latin typeface="Calibri"/>
              </a:rPr>
              <a:t> with a catalog lookup, </a:t>
            </a:r>
            <a:r>
              <a:rPr sz="1150" b="0">
                <a:solidFill>
                  <a:srgbClr val="5B6678"/>
                </a:solidFill>
                <a:latin typeface="Consolas"/>
              </a:rPr>
              <a:t>decide</a:t>
            </a:r>
            <a:r>
              <a:rPr sz="1150" b="0">
                <a:solidFill>
                  <a:srgbClr val="5B6678"/>
                </a:solidFill>
                <a:latin typeface="Calibri"/>
              </a:rPr>
              <a:t> with the model; the other three are fixed steps.  </a:t>
            </a:r>
            <a:r>
              <a:rPr sz="1150" b="1">
                <a:solidFill>
                  <a:srgbClr val="0C7A6D"/>
                </a:solidFill>
                <a:latin typeface="Calibri"/>
              </a:rPr>
              <a:t>Both routers only translate a decision the node already made.</a:t>
            </a:r>
            <a:r>
              <a:rPr sz="1150" b="0">
                <a:solidFill>
                  <a:srgbClr val="5B6678"/>
                </a:solidFill>
                <a:latin typeface="Calibri"/>
              </a:rPr>
              <a:t>  A clear question visits </a:t>
            </a:r>
            <a:r>
              <a:rPr sz="1150" b="1">
                <a:solidFill>
                  <a:srgbClr val="0C7A6D"/>
                </a:solidFill>
                <a:latin typeface="Calibri"/>
              </a:rPr>
              <a:t>5 nodes</a:t>
            </a:r>
            <a:r>
              <a:rPr sz="1150" b="0">
                <a:solidFill>
                  <a:srgbClr val="5B6678"/>
                </a:solidFill>
                <a:latin typeface="Calibri"/>
              </a:rPr>
              <a:t>; one that needs a clarification and a retry visits </a:t>
            </a:r>
            <a:r>
              <a:rPr sz="1150" b="1">
                <a:solidFill>
                  <a:srgbClr val="0C7A6D"/>
                </a:solidFill>
                <a:latin typeface="Calibri"/>
              </a:rPr>
              <a:t>9</a:t>
            </a:r>
            <a:r>
              <a:rPr sz="1150" b="0">
                <a:solidFill>
                  <a:srgbClr val="5B667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C7A6D"/>
                </a:solidFill>
                <a:latin typeface="Consolas"/>
              </a:rPr>
              <a:t>PLANNING &amp; 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21826"/>
                </a:solidFill>
                <a:latin typeface="Calibri"/>
              </a:rPr>
              <a:t>The planner leaves a gap; the gate reads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95551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33295"/>
            <a:ext cx="539496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79599"/>
            <a:ext cx="539496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06">
                <a:solidFill>
                  <a:srgbClr val="C3CCDA"/>
                </a:solidFill>
              </a:rPr>
              <a:t>■  </a:t>
            </a:r>
            <a:r>
              <a:rPr sz="1300" b="0">
                <a:solidFill>
                  <a:srgbClr val="121826"/>
                </a:solidFill>
                <a:latin typeface="Calibri"/>
              </a:rPr>
              <a:t>Up to </a:t>
            </a:r>
            <a:r>
              <a:rPr sz="1300" b="1">
                <a:solidFill>
                  <a:srgbClr val="B06A00"/>
                </a:solidFill>
                <a:latin typeface="Calibri"/>
              </a:rPr>
              <a:t>4 sub-questions</a:t>
            </a:r>
            <a:r>
              <a:rPr sz="1300" b="0">
                <a:solidFill>
                  <a:srgbClr val="121826"/>
                </a:solidFill>
                <a:latin typeface="Calibri"/>
              </a:rPr>
              <a:t>, each with its own </a:t>
            </a:r>
            <a:r>
              <a:rPr sz="1300" b="0">
                <a:solidFill>
                  <a:srgbClr val="121826"/>
                </a:solidFill>
                <a:latin typeface="Consolas"/>
              </a:rPr>
              <a:t>text</a:t>
            </a:r>
            <a:r>
              <a:rPr sz="1300" b="0">
                <a:solidFill>
                  <a:srgbClr val="121826"/>
                </a:solidFill>
                <a:latin typeface="Calibri"/>
              </a:rPr>
              <a:t>, </a:t>
            </a:r>
            <a:r>
              <a:rPr sz="1300" b="0">
                <a:solidFill>
                  <a:srgbClr val="121826"/>
                </a:solidFill>
                <a:latin typeface="Consolas"/>
              </a:rPr>
              <a:t>company</a:t>
            </a:r>
            <a:r>
              <a:rPr sz="1300" b="0">
                <a:solidFill>
                  <a:srgbClr val="121826"/>
                </a:solidFill>
                <a:latin typeface="Calibri"/>
              </a:rPr>
              <a:t>, </a:t>
            </a:r>
            <a:r>
              <a:rPr sz="1300" b="0">
                <a:solidFill>
                  <a:srgbClr val="121826"/>
                </a:solidFill>
                <a:latin typeface="Consolas"/>
              </a:rPr>
              <a:t>fiscal_year</a:t>
            </a:r>
            <a:r>
              <a:rPr sz="1300" b="0">
                <a:solidFill>
                  <a:srgbClr val="121826"/>
                </a:solidFill>
                <a:latin typeface="Calibri"/>
              </a:rPr>
              <a:t>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06">
                <a:solidFill>
                  <a:srgbClr val="C3CCDA"/>
                </a:solidFill>
              </a:rPr>
              <a:t>■  </a:t>
            </a:r>
            <a:r>
              <a:rPr sz="1300" b="1">
                <a:solidFill>
                  <a:srgbClr val="B06A00"/>
                </a:solidFill>
                <a:latin typeface="Calibri"/>
              </a:rPr>
              <a:t>One per target</a:t>
            </a:r>
            <a:r>
              <a:rPr sz="1300" b="0">
                <a:solidFill>
                  <a:srgbClr val="121826"/>
                </a:solidFill>
                <a:latin typeface="Calibri"/>
              </a:rPr>
              <a:t>, so "compare Apple and Tesla" cannot collapse into a single blurred search.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06">
                <a:solidFill>
                  <a:srgbClr val="C3CCDA"/>
                </a:solidFill>
              </a:rPr>
              <a:t>■  </a:t>
            </a:r>
            <a:r>
              <a:rPr sz="1300" b="0">
                <a:solidFill>
                  <a:srgbClr val="121826"/>
                </a:solidFill>
                <a:latin typeface="Calibri"/>
              </a:rPr>
              <a:t>Names are normalised to tickers — appl, apple inc → </a:t>
            </a:r>
            <a:r>
              <a:rPr sz="1300" b="0">
                <a:solidFill>
                  <a:srgbClr val="121826"/>
                </a:solidFill>
                <a:latin typeface="Consolas"/>
              </a:rPr>
              <a:t>AAPL</a:t>
            </a:r>
            <a:r>
              <a:rPr sz="1300" b="0">
                <a:solidFill>
                  <a:srgbClr val="121826"/>
                </a:solidFill>
                <a:latin typeface="Calibri"/>
              </a:rPr>
              <a:t>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06">
                <a:solidFill>
                  <a:srgbClr val="C3CCDA"/>
                </a:solidFill>
              </a:rPr>
              <a:t>■  </a:t>
            </a:r>
            <a:r>
              <a:rPr sz="1300" b="0">
                <a:solidFill>
                  <a:srgbClr val="121826"/>
                </a:solidFill>
                <a:latin typeface="Calibri"/>
              </a:rPr>
              <a:t>A missing company or year stays </a:t>
            </a:r>
            <a:r>
              <a:rPr sz="1300" b="0">
                <a:solidFill>
                  <a:srgbClr val="121826"/>
                </a:solidFill>
                <a:latin typeface="Consolas"/>
              </a:rPr>
              <a:t>null</a:t>
            </a:r>
            <a:r>
              <a:rPr sz="1300" b="0">
                <a:solidFill>
                  <a:srgbClr val="121826"/>
                </a:solidFill>
                <a:latin typeface="Calibri"/>
              </a:rPr>
              <a:t> </a:t>
            </a:r>
            <a:r>
              <a:rPr sz="1300" b="1">
                <a:solidFill>
                  <a:srgbClr val="B06A00"/>
                </a:solidFill>
                <a:latin typeface="Calibri"/>
              </a:rPr>
              <a:t>on purpose</a:t>
            </a:r>
            <a:r>
              <a:rPr sz="1300" b="0">
                <a:solidFill>
                  <a:srgbClr val="121826"/>
                </a:solidFill>
                <a:latin typeface="Calibri"/>
              </a:rPr>
              <a:t>. That null is the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995551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GATE — ONE DUCKDB 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2233295"/>
            <a:ext cx="502920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2379599"/>
          <a:ext cx="5029200" cy="1261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39319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C7A6D"/>
                          </a:solidFill>
                          <a:latin typeface="Consolas"/>
                        </a:rPr>
                        <a:t>0 rows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826"/>
                          </a:solidFill>
                          <a:latin typeface="Calibri"/>
                        </a:rPr>
                        <a:t>Asks, listing the filings that do exist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C7A6D"/>
                          </a:solidFill>
                          <a:latin typeface="Consolas"/>
                        </a:rPr>
                        <a:t>&gt;1 row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826"/>
                          </a:solidFill>
                          <a:latin typeface="Calibri"/>
                        </a:rPr>
                        <a:t>and a filter is null → asks which filing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C7A6D"/>
                          </a:solidFill>
                          <a:latin typeface="Consolas"/>
                        </a:rPr>
                        <a:t>1 row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826"/>
                          </a:solidFill>
                          <a:latin typeface="Calibri"/>
                        </a:rPr>
                        <a:t>Searches, says nothing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46520" y="3778631"/>
            <a:ext cx="5029200" cy="2834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0C7A6D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No model call — about </a:t>
            </a:r>
            <a:r>
              <a:rPr sz="1200" b="1">
                <a:solidFill>
                  <a:srgbClr val="0C7A6D"/>
                </a:solidFill>
                <a:latin typeface="Calibri"/>
              </a:rPr>
              <a:t>10 ms</a:t>
            </a:r>
            <a:r>
              <a:rPr sz="1200" b="0">
                <a:solidFill>
                  <a:srgbClr val="121826"/>
                </a:solidFill>
                <a:latin typeface="Calibri"/>
              </a:rPr>
              <a:t>, and the same plan always gets the same decision.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0C7A6D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At most </a:t>
            </a:r>
            <a:r>
              <a:rPr sz="1200" b="1">
                <a:solidFill>
                  <a:srgbClr val="0C7A6D"/>
                </a:solidFill>
                <a:latin typeface="Calibri"/>
              </a:rPr>
              <a:t>one clarification per question</a:t>
            </a:r>
            <a:r>
              <a:rPr sz="1200" b="0">
                <a:solidFill>
                  <a:srgbClr val="121826"/>
                </a:solidFill>
                <a:latin typeface="Calibri"/>
              </a:rPr>
              <a:t>; after that it searches with what it has.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122799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250815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>
                <a:solidFill>
                  <a:srgbClr val="5B6678"/>
                </a:solidFill>
                <a:latin typeface="Calibri"/>
              </a:rPr>
              <a:t>Two sub-questions that each resolve to one filing is not ambiguity — it is a plan. Ambiguity here means under-specified, and it is a lookup rather than a judgement.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C7A6D"/>
                </a:solidFill>
                <a:latin typeface="Consolas"/>
              </a:rPr>
              <a:t>SELF-CORRECTION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Calibri"/>
              </a:rPr>
              <a:t>Decide what to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8243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THE MODEL PICKS ONE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35987"/>
            <a:ext cx="539496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82291"/>
            <a:ext cx="539496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36">
                <a:solidFill>
                  <a:srgbClr val="B06A00"/>
                </a:solidFill>
              </a:rPr>
              <a:t>■  </a:t>
            </a:r>
            <a:r>
              <a:rPr sz="1350" b="0">
                <a:solidFill>
                  <a:srgbClr val="121826"/>
                </a:solidFill>
                <a:latin typeface="Consolas"/>
              </a:rPr>
              <a:t>answer</a:t>
            </a:r>
            <a:r>
              <a:rPr sz="1350" b="0">
                <a:solidFill>
                  <a:srgbClr val="121826"/>
                </a:solidFill>
                <a:latin typeface="Calibri"/>
              </a:rPr>
              <a:t> — the facts are there, or clearly absent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36">
                <a:solidFill>
                  <a:srgbClr val="B06A00"/>
                </a:solidFill>
              </a:rPr>
              <a:t>■  </a:t>
            </a:r>
            <a:r>
              <a:rPr sz="1350" b="0">
                <a:solidFill>
                  <a:srgbClr val="121826"/>
                </a:solidFill>
                <a:latin typeface="Consolas"/>
              </a:rPr>
              <a:t>refine</a:t>
            </a:r>
            <a:r>
              <a:rPr sz="1350" b="0">
                <a:solidFill>
                  <a:srgbClr val="121826"/>
                </a:solidFill>
                <a:latin typeface="Calibri"/>
              </a:rPr>
              <a:t> — right filing, wrong wording → reword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36">
                <a:solidFill>
                  <a:srgbClr val="B06A00"/>
                </a:solidFill>
              </a:rPr>
              <a:t>■  </a:t>
            </a:r>
            <a:r>
              <a:rPr sz="1350" b="0">
                <a:solidFill>
                  <a:srgbClr val="121826"/>
                </a:solidFill>
                <a:latin typeface="Consolas"/>
              </a:rPr>
              <a:t>broaden</a:t>
            </a:r>
            <a:r>
              <a:rPr sz="1350" b="0">
                <a:solidFill>
                  <a:srgbClr val="121826"/>
                </a:solidFill>
                <a:latin typeface="Calibri"/>
              </a:rPr>
              <a:t> — wrong company or year → fix the filter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836">
                <a:solidFill>
                  <a:srgbClr val="B06A00"/>
                </a:solidFill>
              </a:rPr>
              <a:t>■  </a:t>
            </a:r>
            <a:r>
              <a:rPr sz="1350" b="0">
                <a:solidFill>
                  <a:srgbClr val="121826"/>
                </a:solidFill>
                <a:latin typeface="Consolas"/>
              </a:rPr>
              <a:t>ask_user</a:t>
            </a:r>
            <a:r>
              <a:rPr sz="1350" b="0">
                <a:solidFill>
                  <a:srgbClr val="121826"/>
                </a:solidFill>
                <a:latin typeface="Calibri"/>
              </a:rPr>
              <a:t> — the person could still narrow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8243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THE CODE KEEPS IT HONEST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2435987"/>
            <a:ext cx="502920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582291"/>
            <a:ext cx="502920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0C7A6D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alibri"/>
              </a:rPr>
              <a:t>The retry budget is checked </a:t>
            </a:r>
            <a:r>
              <a:rPr sz="1250" b="1">
                <a:solidFill>
                  <a:srgbClr val="0C7A6D"/>
                </a:solidFill>
                <a:latin typeface="Calibri"/>
              </a:rPr>
              <a:t>before the model is called</a:t>
            </a:r>
            <a:r>
              <a:rPr sz="1250" b="0">
                <a:solidFill>
                  <a:srgbClr val="121826"/>
                </a:solidFill>
                <a:latin typeface="Calibri"/>
              </a:rPr>
              <a:t>. Once it is spent, the next step is </a:t>
            </a:r>
            <a:r>
              <a:rPr sz="1250" b="0">
                <a:solidFill>
                  <a:srgbClr val="121826"/>
                </a:solidFill>
                <a:latin typeface="Consolas"/>
              </a:rPr>
              <a:t>answer</a:t>
            </a:r>
            <a:r>
              <a:rPr sz="1250" b="0">
                <a:solidFill>
                  <a:srgbClr val="121826"/>
                </a:solidFill>
                <a:latin typeface="Calibri"/>
              </a:rPr>
              <a:t> and the model has no say.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0C7A6D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alibri"/>
              </a:rPr>
              <a:t>Nothing came back → broaden without asking. There is nothing to grade, and the filter is the only thing that could have excluded everything.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0C7A6D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onsolas"/>
              </a:rPr>
              <a:t>k</a:t>
            </a:r>
            <a:r>
              <a:rPr sz="1250" b="0">
                <a:solidFill>
                  <a:srgbClr val="121826"/>
                </a:solidFill>
                <a:latin typeface="Calibri"/>
              </a:rPr>
              <a:t> grows 4 → 8 → 12 per sub-question on each attempt.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0C7A6D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alibri"/>
              </a:rPr>
              <a:t>If the model returns something that does not parse, the node falls back to answering rather than failing.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920107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48123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>
                <a:solidFill>
                  <a:srgbClr val="5B6678"/>
                </a:solidFill>
                <a:latin typeface="Calibri"/>
              </a:rPr>
              <a:t>Four fixed actions, validated by Pydantic, rather than open-ended tool use. It cannot do anything I did not plan for — but every path it can take is one I can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C7A6D"/>
                </a:solidFill>
                <a:latin typeface="Consolas"/>
              </a:rPr>
              <a:t>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Calibri"/>
              </a:rPr>
              <a:t>Five turns, and a button to forget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83943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A TURN IS NOT A TRANSCRIPT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21687"/>
            <a:ext cx="512064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467991"/>
            <a:ext cx="5120640" cy="71323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B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ctr"/>
            <a:r>
              <a:rPr sz="1200" b="0">
                <a:solidFill>
                  <a:srgbClr val="121826"/>
                </a:solidFill>
                <a:latin typeface="Consolas"/>
              </a:rPr>
              <a:t>"What were the main revenue drivers?"  </a:t>
            </a:r>
            <a:r>
              <a:rPr sz="1200" b="1">
                <a:solidFill>
                  <a:srgbClr val="0C7A6D"/>
                </a:solidFill>
                <a:latin typeface="Consolas"/>
              </a:rPr>
              <a:t>(AAPL/2024)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6671"/>
            <a:ext cx="5120640" cy="3364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C3CCDA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alibri"/>
              </a:rPr>
              <a:t>About </a:t>
            </a:r>
            <a:r>
              <a:rPr sz="1250" b="1">
                <a:solidFill>
                  <a:srgbClr val="B06A00"/>
                </a:solidFill>
                <a:latin typeface="Calibri"/>
              </a:rPr>
              <a:t>20 tokens</a:t>
            </a:r>
            <a:r>
              <a:rPr sz="1250" b="0">
                <a:solidFill>
                  <a:srgbClr val="121826"/>
                </a:solidFill>
                <a:latin typeface="Calibri"/>
              </a:rPr>
              <a:t>, not 2,000. The planner only needs the company and year, not the prose.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0C7A6D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alibri"/>
              </a:rPr>
              <a:t>Passed in by the UI, never accumulated by the graph, so each question is still reproducible on its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83943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MEASURED ON THE PLANNER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321687"/>
            <a:ext cx="502920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46520" y="2467991"/>
          <a:ext cx="502920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678"/>
                          </a:solidFill>
                          <a:latin typeface="Consolas"/>
                        </a:rPr>
                        <a:t>FOLLOW-UP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C6CF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678"/>
                          </a:solidFill>
                          <a:latin typeface="Consolas"/>
                        </a:rPr>
                        <a:t>RESOLVES TO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C6CFDD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826"/>
                          </a:solidFill>
                          <a:latin typeface="Calibri"/>
                        </a:rPr>
                        <a:t>"what about Microsoft?"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826"/>
                          </a:solidFill>
                          <a:latin typeface="Calibri"/>
                        </a:rPr>
                        <a:t>MSFT / 2024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826"/>
                          </a:solidFill>
                          <a:latin typeface="Calibri"/>
                        </a:rPr>
                        <a:t>"and 2025?"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826"/>
                          </a:solidFill>
                          <a:latin typeface="Calibri"/>
                        </a:rPr>
                        <a:t>AAPL / 2025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826"/>
                          </a:solidFill>
                          <a:latin typeface="Calibri"/>
                        </a:rPr>
                        <a:t>"NVIDIA legal, 2025"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826"/>
                          </a:solidFill>
                          <a:latin typeface="Calibri"/>
                        </a:rPr>
                        <a:t>NVDA / 2025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46520" y="4141343"/>
            <a:ext cx="5029200" cy="2560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B06A00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alibri"/>
              </a:rPr>
              <a:t>The third </a:t>
            </a:r>
            <a:r>
              <a:rPr sz="1250" b="1">
                <a:solidFill>
                  <a:srgbClr val="B06A00"/>
                </a:solidFill>
                <a:latin typeface="Calibri"/>
              </a:rPr>
              <a:t>ignores</a:t>
            </a:r>
            <a:r>
              <a:rPr sz="1250" b="0">
                <a:solidFill>
                  <a:srgbClr val="121826"/>
                </a:solidFill>
                <a:latin typeface="Calibri"/>
              </a:rPr>
              <a:t> history — a question that names its own company must not inherit the last one's.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034407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162423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B06A00"/>
                </a:solidFill>
                <a:latin typeface="Calibri"/>
              </a:rPr>
              <a:t>The trade-off:</a:t>
            </a:r>
            <a:r>
              <a:rPr sz="1150" b="0">
                <a:solidFill>
                  <a:srgbClr val="5B6678"/>
                </a:solidFill>
                <a:latin typeface="Calibri"/>
              </a:rPr>
              <a:t> after an Apple question, a vague follow-up gets answered instead of clarified — reasonable behaviour, but the gate stops firing. That is why </a:t>
            </a:r>
            <a:r>
              <a:rPr sz="1150" b="1">
                <a:solidFill>
                  <a:srgbClr val="0C7A6D"/>
                </a:solidFill>
                <a:latin typeface="Calibri"/>
              </a:rPr>
              <a:t>Clear memory</a:t>
            </a:r>
            <a:r>
              <a:rPr sz="1150" b="0">
                <a:solidFill>
                  <a:srgbClr val="5B6678"/>
                </a:solidFill>
                <a:latin typeface="Calibri"/>
              </a:rPr>
              <a:t> is a button. Clearing also drops a run that was paused on a question.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C7A6D"/>
                </a:solidFill>
                <a:latin typeface="Consola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121826"/>
                </a:solidFill>
                <a:latin typeface="Calibri"/>
              </a:rPr>
              <a:t>Let me show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196907"/>
            <a:ext cx="10820095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B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500">
                <a:solidFill>
                  <a:srgbClr val="121826"/>
                </a:solidFill>
                <a:latin typeface="Consolas"/>
              </a:rPr>
              <a:t>"What were the main revenue drivers?"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B6678"/>
                </a:solidFill>
                <a:latin typeface="Calibri"/>
              </a:rPr>
              <a:t>No company, no year → the gate asks → I answer "Apple 2024" → one continuous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196907"/>
            <a:ext cx="41148" cy="868680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4248467"/>
            <a:ext cx="10820095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B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500">
                <a:solidFill>
                  <a:srgbClr val="121826"/>
                </a:solidFill>
                <a:latin typeface="Consolas"/>
              </a:rPr>
              <a:t>"Compare Apple and Tesla risk factors in 2024"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B6678"/>
                </a:solidFill>
                <a:latin typeface="Calibri"/>
              </a:rPr>
              <a:t>Two sub-questions, two filtered searches, one grounded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248467"/>
            <a:ext cx="41148" cy="868680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111307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239323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>
                <a:solidFill>
                  <a:srgbClr val="5B6678"/>
                </a:solidFill>
                <a:latin typeface="Calibri"/>
              </a:rPr>
              <a:t>Worth watching in the reasoning panel: the plan it wrote, the gate's decision, any retry and the reason for it, and the chunk ids behind each claim.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C7A6D"/>
                </a:solidFill>
                <a:latin typeface="Consola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Calibri"/>
              </a:rPr>
              <a:t>Measured, not asserted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73275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C7A6D"/>
                </a:solidFill>
                <a:latin typeface="Consolas"/>
              </a:rPr>
              <a:t>20/20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5B6678"/>
                </a:solidFill>
                <a:latin typeface="Consolas"/>
              </a:rPr>
              <a:t>ROUTING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73275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C7A6D"/>
                </a:solidFill>
                <a:latin typeface="Consolas"/>
              </a:rPr>
              <a:t>0 / 10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5B6678"/>
                </a:solidFill>
                <a:latin typeface="Consolas"/>
              </a:rPr>
              <a:t>NEEDLESSLY CLARIFIED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073275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C7A6D"/>
                </a:solidFill>
                <a:latin typeface="Consolas"/>
              </a:rPr>
              <a:t>8/8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5B6678"/>
                </a:solidFill>
                <a:latin typeface="Consolas"/>
              </a:rPr>
              <a:t>CITATIONS 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59" y="2073275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C7A6D"/>
                </a:solidFill>
                <a:latin typeface="Consolas"/>
              </a:rPr>
              <a:t>45/48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5B6678"/>
                </a:solidFill>
                <a:latin typeface="Consolas"/>
              </a:rPr>
              <a:t>CLAIMS 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24835"/>
            <a:ext cx="53949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80"/>
              </a:spcAft>
            </a:pPr>
            <a:r>
              <a:rPr sz="836">
                <a:solidFill>
                  <a:srgbClr val="0C7A6D"/>
                </a:solidFill>
              </a:rPr>
              <a:t>■  </a:t>
            </a:r>
            <a:r>
              <a:rPr sz="1350" b="1">
                <a:solidFill>
                  <a:srgbClr val="0C7A6D"/>
                </a:solidFill>
                <a:latin typeface="Calibri"/>
              </a:rPr>
              <a:t>Routing.</a:t>
            </a:r>
            <a:r>
              <a:rPr sz="1350" b="0">
                <a:solidFill>
                  <a:srgbClr val="121826"/>
                </a:solidFill>
                <a:latin typeface="Calibri"/>
              </a:rPr>
              <a:t> 20 labelled questions. Because the gate is a lookup, one run covers what the planner extracted and whether it asked at the right time — no labelled chunks, no judge, seconds to run.</a:t>
            </a:r>
          </a:p>
          <a:p>
            <a:pPr>
              <a:lnSpc>
                <a:spcPct val="115000"/>
              </a:lnSpc>
              <a:spcAft>
                <a:spcPts val="1080"/>
              </a:spcAft>
            </a:pPr>
            <a:r>
              <a:rPr sz="836">
                <a:solidFill>
                  <a:srgbClr val="0C7A6D"/>
                </a:solidFill>
              </a:rPr>
              <a:t>■  </a:t>
            </a:r>
            <a:r>
              <a:rPr sz="1350" b="1">
                <a:solidFill>
                  <a:srgbClr val="B06A00"/>
                </a:solidFill>
                <a:latin typeface="Calibri"/>
              </a:rPr>
              <a:t>Ten of the twenty are there to catch over-asking.</a:t>
            </a:r>
            <a:r>
              <a:rPr sz="1350" b="0">
                <a:solidFill>
                  <a:srgbClr val="121826"/>
                </a:solidFill>
                <a:latin typeface="Calibri"/>
              </a:rPr>
              <a:t> An agent that asks a question every time would pass a simpler check and fail this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124835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80"/>
              </a:spcAft>
            </a:pPr>
            <a:r>
              <a:rPr sz="836">
                <a:solidFill>
                  <a:srgbClr val="B06A00"/>
                </a:solidFill>
              </a:rPr>
              <a:t>■  </a:t>
            </a:r>
            <a:r>
              <a:rPr sz="1350" b="1">
                <a:solidFill>
                  <a:srgbClr val="0C7A6D"/>
                </a:solidFill>
                <a:latin typeface="Calibri"/>
              </a:rPr>
              <a:t>Grounding.</a:t>
            </a:r>
            <a:r>
              <a:rPr sz="1350" b="0">
                <a:solidFill>
                  <a:srgbClr val="121826"/>
                </a:solidFill>
                <a:latin typeface="Calibri"/>
              </a:rPr>
              <a:t> Checking the cited chunk ids against what retrieval returned is free. Only faithfulness needs a judge.</a:t>
            </a:r>
          </a:p>
          <a:p>
            <a:pPr>
              <a:lnSpc>
                <a:spcPct val="115000"/>
              </a:lnSpc>
              <a:spcAft>
                <a:spcPts val="1080"/>
              </a:spcAft>
            </a:pPr>
            <a:r>
              <a:rPr sz="836">
                <a:solidFill>
                  <a:srgbClr val="B06A00"/>
                </a:solidFill>
              </a:rPr>
              <a:t>■  </a:t>
            </a:r>
            <a:r>
              <a:rPr sz="1350" b="1">
                <a:solidFill>
                  <a:srgbClr val="B06A00"/>
                </a:solidFill>
                <a:latin typeface="Calibri"/>
              </a:rPr>
              <a:t>It found a real problem.</a:t>
            </a:r>
            <a:r>
              <a:rPr sz="1350" b="0">
                <a:solidFill>
                  <a:srgbClr val="121826"/>
                </a:solidFill>
                <a:latin typeface="Calibri"/>
              </a:rPr>
              <a:t> One Tesla answer scored 60% — it used key-personnel risk that was not in the passages, while every citation it gave was valid. A citation check alone would have passed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45075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173091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>
                <a:solidFill>
                  <a:srgbClr val="5B6678"/>
                </a:solidFill>
                <a:latin typeface="Calibri"/>
              </a:rPr>
              <a:t>The harness runs the real nodes, so it cannot drift from the code. I also fed it deliberately wrong expectations by hand — inverted gate, wrong ticker, wrong sub-question count — and confirmed each one fails.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C7A6D"/>
                </a:solidFill>
                <a:latin typeface="Consolas"/>
              </a:rPr>
              <a:t>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Calibri"/>
              </a:rPr>
              <a:t>Where the two seconds go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37360"/>
          <a:ext cx="4846320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73736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678"/>
                          </a:solidFill>
                          <a:latin typeface="Consolas"/>
                        </a:rPr>
                        <a:t>STAGE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C6CF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678"/>
                          </a:solidFill>
                          <a:latin typeface="Consolas"/>
                        </a:rPr>
                        <a:t>MEDIAN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C6CFDD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plan · model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C7A6D"/>
                          </a:solidFill>
                          <a:latin typeface="Consolas"/>
                        </a:rPr>
                        <a:t>284 ms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clarify gate · SQL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C7A6D"/>
                          </a:solidFill>
                          <a:latin typeface="Consolas"/>
                        </a:rPr>
                        <a:t>10 ms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retrieve · local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C7A6D"/>
                          </a:solidFill>
                          <a:latin typeface="Consolas"/>
                        </a:rPr>
                        <a:t>370 ms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decide · model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C7A6D"/>
                          </a:solidFill>
                          <a:latin typeface="Consolas"/>
                        </a:rPr>
                        <a:t>293 ms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answer · model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C7A6D"/>
                          </a:solidFill>
                          <a:latin typeface="Consolas"/>
                        </a:rPr>
                        <a:t>1,073 ms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end to end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C7A6D"/>
                          </a:solidFill>
                          <a:latin typeface="Consolas"/>
                        </a:rPr>
                        <a:t>≈ 2.1 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46520" y="173736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0C7A6D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Each retry adds roughly </a:t>
            </a:r>
            <a:r>
              <a:rPr sz="1200" b="1">
                <a:solidFill>
                  <a:srgbClr val="B06A00"/>
                </a:solidFill>
                <a:latin typeface="Calibri"/>
              </a:rPr>
              <a:t>660 ms</a:t>
            </a:r>
            <a:r>
              <a:rPr sz="1200" b="0">
                <a:solidFill>
                  <a:srgbClr val="121826"/>
                </a:solidFill>
                <a:latin typeface="Calibri"/>
              </a:rPr>
              <a:t> — one more search and one more decision.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0C7A6D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The parts I control are </a:t>
            </a:r>
            <a:r>
              <a:rPr sz="1200" b="1">
                <a:solidFill>
                  <a:srgbClr val="0C7A6D"/>
                </a:solidFill>
                <a:latin typeface="Calibri"/>
              </a:rPr>
              <a:t>about 380 ms and steady</a:t>
            </a:r>
            <a:r>
              <a:rPr sz="1200" b="0">
                <a:solidFill>
                  <a:srgbClr val="121826"/>
                </a:solidFill>
                <a:latin typeface="Calibri"/>
              </a:rPr>
              <a:t>. The model calls move with provider load: the same answer call ranged 0.8 s to 13 s when the account was being throttled.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B06A00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The reranker is the local bottleneck and runs on CPU, which is what would cap any parallel fan-out.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C3CCDA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Model load is </a:t>
            </a:r>
            <a:r>
              <a:rPr sz="1200" b="1">
                <a:solidFill>
                  <a:srgbClr val="B06A00"/>
                </a:solidFill>
                <a:latin typeface="Calibri"/>
              </a:rPr>
              <a:t>about 12 s once per process</a:t>
            </a:r>
            <a:r>
              <a:rPr sz="1200" b="0">
                <a:solidFill>
                  <a:srgbClr val="121826"/>
                </a:solidFill>
                <a:latin typeface="Calibri"/>
              </a:rPr>
              <a:t>, cached by Streamlit — not per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687568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15583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>
                <a:solidFill>
                  <a:srgbClr val="5B6678"/>
                </a:solidFill>
                <a:latin typeface="Calibri"/>
              </a:rPr>
              <a:t>Median of three single-filing questions on this laptop. A two-company comparison runs the search twice, so it lands higher — I would quote </a:t>
            </a:r>
            <a:r>
              <a:rPr sz="1150" b="1">
                <a:solidFill>
                  <a:srgbClr val="0C7A6D"/>
                </a:solidFill>
                <a:latin typeface="Calibri"/>
              </a:rPr>
              <a:t>around 2 s typical</a:t>
            </a:r>
            <a:r>
              <a:rPr sz="1150" b="0">
                <a:solidFill>
                  <a:srgbClr val="5B6678"/>
                </a:solidFill>
                <a:latin typeface="Calibri"/>
              </a:rPr>
              <a:t> and size any promise around the provider, since that is where the variance 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Calibri"/>
              </a:rPr>
              <a:t>Trade-offs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17320"/>
          <a:ext cx="10789918" cy="4864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749039"/>
                <a:gridCol w="3749039"/>
              </a:tblGrid>
              <a:tr h="69494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678"/>
                          </a:solidFill>
                          <a:latin typeface="Consolas"/>
                        </a:rPr>
                        <a:t>DECISION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C6CF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678"/>
                          </a:solidFill>
                          <a:latin typeface="Consolas"/>
                        </a:rPr>
                        <a:t>WHY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C6CF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678"/>
                          </a:solidFill>
                          <a:latin typeface="Consolas"/>
                        </a:rPr>
                        <a:t>WHAT IT COSTS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C6CFDD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Gate is a catalog lookup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Free, fast, same answer every time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Catches a missing company or year, not vague wording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Four fixed actions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Every path can be listed and tested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Cannot handle a situation I did not plan for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Budgets in code, not the prompt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The loop cannot run away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Sometimes answers a little early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One 70B model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The 8B echoed the schema back and repeated itself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No cheaper tier for the small calls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Memory capped at five turns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Follow-ups work without context creeping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Nothing survives a page refresh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  <a:lnB w="9525" cap="flat">
                      <a:solidFill>
                        <a:srgbClr val="E4EAF2"/>
                      </a:solidFill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21826"/>
                          </a:solidFill>
                          <a:latin typeface="Calibri"/>
                        </a:rPr>
                        <a:t>Four passages per sub-question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Keeps citations checkable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21826"/>
                          </a:solidFill>
                          <a:latin typeface="Calibri"/>
                        </a:rPr>
                        <a:t>A broad question may want more context</a:t>
                      </a:r>
                    </a:p>
                  </a:txBody>
                  <a:tcPr marL="18288" marR="109728" marT="64008" marB="6400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Calibri"/>
              </a:rPr>
              <a:t>Limits, assumptions,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KNOWN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55064"/>
            <a:ext cx="539496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01368"/>
            <a:ext cx="5394960" cy="4507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C3CCDA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alibri"/>
              </a:rPr>
              <a:t>Passages are </a:t>
            </a:r>
            <a:r>
              <a:rPr sz="1250" b="1">
                <a:solidFill>
                  <a:srgbClr val="B06A00"/>
                </a:solidFill>
                <a:latin typeface="Calibri"/>
              </a:rPr>
              <a:t>replaced</a:t>
            </a:r>
            <a:r>
              <a:rPr sz="1250" b="0">
                <a:solidFill>
                  <a:srgbClr val="121826"/>
                </a:solidFill>
                <a:latin typeface="Calibri"/>
              </a:rPr>
              <a:t> on a retry, not added up — a chunk found early can be lost later.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C3CCDA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alibri"/>
              </a:rPr>
              <a:t>Narrative text only; figures inside financial tables are the weakest case.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C3CCDA"/>
                </a:solidFill>
              </a:rPr>
              <a:t>■  </a:t>
            </a:r>
            <a:r>
              <a:rPr sz="1250" b="1">
                <a:solidFill>
                  <a:srgbClr val="B06A00"/>
                </a:solidFill>
                <a:latin typeface="Calibri"/>
              </a:rPr>
              <a:t>Recall is not measured.</a:t>
            </a:r>
            <a:r>
              <a:rPr sz="1250" b="0">
                <a:solidFill>
                  <a:srgbClr val="121826"/>
                </a:solidFill>
                <a:latin typeface="Calibri"/>
              </a:rPr>
              <a:t> I can show answers are grounded in what was retrieved, not that retrieval found everything it should have.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C3CCDA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alibri"/>
              </a:rPr>
              <a:t>One clarification per question, then it proceeds on a best guess.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75">
                <a:solidFill>
                  <a:srgbClr val="C3CCDA"/>
                </a:solidFill>
              </a:rPr>
              <a:t>■  </a:t>
            </a:r>
            <a:r>
              <a:rPr sz="1250" b="0">
                <a:solidFill>
                  <a:srgbClr val="121826"/>
                </a:solidFill>
                <a:latin typeface="Calibri"/>
              </a:rPr>
              <a:t>Ten filings, so most of EDGAR is out of scope — refusing is often the correct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41732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ASSUMPTIONS I MADE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655064"/>
            <a:ext cx="502920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01368"/>
            <a:ext cx="5029200" cy="4507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0C7A6D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One 10-K per company per year, and the fiscal year comes from the filing's own metadata.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0C7A6D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The Item split from </a:t>
            </a:r>
            <a:r>
              <a:rPr sz="1200" b="0">
                <a:solidFill>
                  <a:srgbClr val="121826"/>
                </a:solidFill>
                <a:latin typeface="Consolas"/>
              </a:rPr>
              <a:t>edgartools</a:t>
            </a:r>
            <a:r>
              <a:rPr sz="1200" b="0">
                <a:solidFill>
                  <a:srgbClr val="121826"/>
                </a:solidFill>
                <a:latin typeface="Calibri"/>
              </a:rPr>
              <a:t> is correct — I did not verify it against the raw HTML.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0C7A6D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The three indices agree because one pass writes them; nothing enforces it afterwards.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79476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B6678"/>
                </a:solidFill>
                <a:latin typeface="Consolas"/>
              </a:rPr>
              <a:t>IF I KEPT GOING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4032504"/>
            <a:ext cx="5029200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78808"/>
            <a:ext cx="5029200" cy="2130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B06A00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Accumulate passages across retries — one field, and the change most likely to improve answers.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B06A00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A recall eval, to close the one gap above I cannot currently answer.</a:t>
            </a:r>
          </a:p>
          <a:p>
            <a:pPr>
              <a:lnSpc>
                <a:spcPct val="115000"/>
              </a:lnSpc>
              <a:spcAft>
                <a:spcPts val="792"/>
              </a:spcAft>
            </a:pPr>
            <a:r>
              <a:rPr sz="744">
                <a:solidFill>
                  <a:srgbClr val="B06A00"/>
                </a:solidFill>
              </a:rPr>
              <a:t>■  </a:t>
            </a:r>
            <a:r>
              <a:rPr sz="1200" b="0">
                <a:solidFill>
                  <a:srgbClr val="121826"/>
                </a:solidFill>
                <a:latin typeface="Calibri"/>
              </a:rPr>
              <a:t>Link citations to EDGAR — the source URL is already stored on every chunk.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687568"/>
            <a:ext cx="10820095" cy="10972"/>
          </a:xfrm>
          <a:prstGeom prst="rect">
            <a:avLst/>
          </a:prstGeom>
          <a:solidFill>
            <a:srgbClr val="DB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15583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>
                <a:solidFill>
                  <a:srgbClr val="5B6678"/>
                </a:solidFill>
                <a:latin typeface="Calibri"/>
              </a:rPr>
              <a:t>Thank you — happy to go deeper on any of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