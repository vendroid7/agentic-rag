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8" indent="-320038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1"/>
            <a:ext cx="4041775" cy="639765"/>
          </a:xfrm>
          <a:prstGeom prst="rect">
            <a:avLst/>
          </a:prstGeom>
        </p:spPr>
        <p:txBody>
          <a:bodyPr anchor="b"/>
          <a:lstStyle/>
          <a:p>
            <a:pPr/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half" idx="21"/>
          </p:nvPr>
        </p:nvSpPr>
        <p:spPr>
          <a:xfrm>
            <a:off x="457198" y="1435100"/>
            <a:ext cx="3008316" cy="4691063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8" y="6414761"/>
            <a:ext cx="258623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>
            <p:ph type="ctr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Agentic RAG for SEC Filings</a:t>
            </a:r>
          </a:p>
        </p:txBody>
      </p:sp>
      <p:sp>
        <p:nvSpPr>
          <p:cNvPr id="95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352042">
              <a:spcBef>
                <a:spcPts val="500"/>
              </a:spcBef>
              <a:defRPr sz="2400"/>
            </a:pPr>
          </a:p>
          <a:p>
            <a:pPr defTabSz="352042">
              <a:spcBef>
                <a:spcPts val="500"/>
              </a:spcBef>
              <a:defRPr sz="2400"/>
            </a:pPr>
          </a:p>
          <a:p>
            <a:pPr defTabSz="352042">
              <a:spcBef>
                <a:spcPts val="500"/>
              </a:spcBef>
              <a:defRPr sz="2400"/>
            </a:pPr>
            <a:r>
              <a:t>Venkatesh Giri</a:t>
            </a:r>
          </a:p>
        </p:txBody>
      </p:sp>
      <p:sp>
        <p:nvSpPr>
          <p:cNvPr id="96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 defTabSz="393191">
              <a:defRPr sz="3700"/>
            </a:pPr>
          </a:p>
        </p:txBody>
      </p:sp>
      <p:sp>
        <p:nvSpPr>
          <p:cNvPr id="99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67461" indent="-267461" defTabSz="356615">
              <a:spcBef>
                <a:spcPts val="500"/>
              </a:spcBef>
              <a:defRPr sz="2400"/>
            </a:pPr>
            <a:r>
              <a:t>The Core Vulnerability of Standard RAG:</a:t>
            </a:r>
          </a:p>
          <a:p>
            <a:pPr lvl="1" marL="579499" indent="-222883" defTabSz="356615">
              <a:spcBef>
                <a:spcPts val="500"/>
              </a:spcBef>
              <a:defRPr sz="2100"/>
            </a:pPr>
            <a:r>
              <a:t>Standard vector DBs cannot reliably execute hard constraints (e.g., 'only 2023 filings').</a:t>
            </a:r>
          </a:p>
          <a:p>
            <a:pPr lvl="1" marL="579499" indent="-222883" defTabSz="356615">
              <a:spcBef>
                <a:spcPts val="500"/>
              </a:spcBef>
              <a:defRPr sz="2100"/>
            </a:pPr>
            <a:r>
              <a:t>Result: Vector drift. The model silently mixes temporal context across different years or corporate entities.</a:t>
            </a:r>
          </a:p>
          <a:p>
            <a:pPr marL="267461" indent="-267461" defTabSz="356615">
              <a:spcBef>
                <a:spcPts val="500"/>
              </a:spcBef>
              <a:defRPr sz="2400"/>
            </a:pPr>
            <a:r>
              <a:t>Our Architectural Solution:</a:t>
            </a:r>
          </a:p>
          <a:p>
            <a:pPr lvl="1" marL="579499" indent="-222883" defTabSz="356615">
              <a:spcBef>
                <a:spcPts val="500"/>
              </a:spcBef>
              <a:defRPr sz="2100"/>
            </a:pPr>
            <a:r>
              <a:t>Decouple strict metadata filtering from the semantic search engine.</a:t>
            </a:r>
          </a:p>
          <a:p>
            <a:pPr lvl="1" marL="579499" indent="-222883" defTabSz="356615">
              <a:spcBef>
                <a:spcPts val="500"/>
              </a:spcBef>
              <a:defRPr sz="2100"/>
            </a:pPr>
            <a:r>
              <a:t>Replace open-ended ReAct LLM loops with a deterministic state machine.</a:t>
            </a:r>
          </a:p>
          <a:p>
            <a:pPr lvl="1" marL="579499" indent="-222883" defTabSz="356615">
              <a:spcBef>
                <a:spcPts val="500"/>
              </a:spcBef>
              <a:defRPr sz="2100"/>
            </a:pPr>
            <a:r>
              <a:t>Enforce fail-fast SQL checks before executing expensive embedding calls.</a:t>
            </a:r>
          </a:p>
        </p:txBody>
      </p:sp>
      <p:sp>
        <p:nvSpPr>
          <p:cNvPr id="100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434521">
              <a:defRPr sz="4158"/>
            </a:lvl1pPr>
          </a:lstStyle>
          <a:p>
            <a:pPr/>
            <a:r>
              <a:t>Decoupled Storage &amp; Hybrid Retrieval</a:t>
            </a:r>
          </a:p>
        </p:txBody>
      </p:sp>
      <p:sp>
        <p:nvSpPr>
          <p:cNvPr id="103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43389" indent="-243389" defTabSz="324519">
              <a:spcBef>
                <a:spcPts val="400"/>
              </a:spcBef>
              <a:defRPr sz="2184"/>
            </a:pPr>
            <a:r>
              <a:t>DuckDB (In-Process SQL) -&gt; The Catalog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Handles exact metadata filters and target validation in &lt;5ms.</a:t>
            </a:r>
          </a:p>
          <a:p>
            <a:pPr marL="243389" indent="-243389" defTabSz="324519">
              <a:spcBef>
                <a:spcPts val="400"/>
              </a:spcBef>
              <a:defRPr sz="2184"/>
            </a:pPr>
            <a:r>
              <a:t>FAISS (Dense) + BM25 (Sparse) -&gt; The Search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Dense catches semantic intent; Sparse catches exact tickers and section codes.</a:t>
            </a:r>
          </a:p>
          <a:p>
            <a:pPr marL="243389" indent="-243389" defTabSz="324519">
              <a:spcBef>
                <a:spcPts val="400"/>
              </a:spcBef>
              <a:defRPr sz="2184"/>
            </a:pPr>
            <a:r>
              <a:t>Why we reject RRF (Reciprocal Rank Fusion):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RRF relies on arbitrary rank math. Instead, we union candidate IDs to guarantee we never drop a perfect keyword match.</a:t>
            </a:r>
          </a:p>
          <a:p>
            <a:pPr marL="243389" indent="-243389" defTabSz="324519">
              <a:spcBef>
                <a:spcPts val="400"/>
              </a:spcBef>
              <a:defRPr sz="2184"/>
            </a:pPr>
            <a:r>
              <a:t>Cross-Encoder (Reranker) -&gt; The Filter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Evaluates the hybrid  union set jointly (query + passage) for highest precision before sending context to the LLM.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Reranks the hybrid union for better answer quality.</a:t>
            </a:r>
          </a:p>
          <a:p>
            <a:pPr lvl="1" marL="527344" indent="-202824" defTabSz="324519">
              <a:spcBef>
                <a:spcPts val="400"/>
              </a:spcBef>
              <a:defRPr sz="1911"/>
            </a:pPr>
            <a:r>
              <a:t>Compares the retrieved docs directly with the query.</a:t>
            </a:r>
          </a:p>
        </p:txBody>
      </p:sp>
      <p:sp>
        <p:nvSpPr>
          <p:cNvPr id="104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1">
              <a:defRPr sz="3700"/>
            </a:lvl1pPr>
          </a:lstStyle>
          <a:p>
            <a:pPr/>
            <a:r>
              <a:t>Orchestration &amp; Pydantic State Management</a:t>
            </a:r>
          </a:p>
        </p:txBody>
      </p:sp>
      <p:sp>
        <p:nvSpPr>
          <p:cNvPr id="107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98322" indent="-298322" defTabSz="397763">
              <a:spcBef>
                <a:spcPts val="600"/>
              </a:spcBef>
              <a:defRPr sz="2700"/>
            </a:pPr>
            <a:r>
              <a:t>Why LangGraph over standard Chaining?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Financial workflows require full state visibility and explicit loop control, avoiding stochastic LLM routing.</a:t>
            </a:r>
          </a:p>
          <a:p>
            <a:pPr marL="298322" indent="-298322" defTabSz="397763">
              <a:spcBef>
                <a:spcPts val="600"/>
              </a:spcBef>
              <a:defRPr sz="2700"/>
            </a:pPr>
            <a:r>
              <a:t>Strict State Typing with Pydantic: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The graph's state object is strongly typed via Pydantic.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Guarantees schema validation across node transitions, ensuring predictable data mutation.</a:t>
            </a:r>
          </a:p>
          <a:p>
            <a:pPr marL="298322" indent="-298322" defTabSz="397763">
              <a:spcBef>
                <a:spcPts val="600"/>
              </a:spcBef>
              <a:defRPr sz="2700"/>
            </a:pPr>
            <a:r>
              <a:t>State Persistence (Checkpointing):</a:t>
            </a:r>
          </a:p>
          <a:p>
            <a:pPr lvl="1" marL="646366" indent="-248602" defTabSz="397763">
              <a:spcBef>
                <a:spcPts val="500"/>
              </a:spcBef>
              <a:defRPr sz="2400"/>
            </a:pPr>
            <a:r>
              <a:t>State is persisted via thread_id, allowing the graph to safely pause (interrupt) for user input without context loss.</a:t>
            </a:r>
          </a:p>
        </p:txBody>
      </p:sp>
      <p:sp>
        <p:nvSpPr>
          <p:cNvPr id="108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11" name="TextBox 2"/>
          <p:cNvSpPr txBox="1"/>
          <p:nvPr/>
        </p:nvSpPr>
        <p:spPr>
          <a:xfrm>
            <a:off x="502919" y="182879"/>
            <a:ext cx="6596220" cy="789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Agent Node Strategy &amp; Execution Flow</a:t>
            </a:r>
          </a:p>
        </p:txBody>
      </p:sp>
      <p:sp>
        <p:nvSpPr>
          <p:cNvPr id="112" name="TextBox 4"/>
          <p:cNvSpPr txBox="1"/>
          <p:nvPr/>
        </p:nvSpPr>
        <p:spPr>
          <a:xfrm>
            <a:off x="5779666" y="1381818"/>
            <a:ext cx="3108962" cy="39764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1600">
                <a:latin typeface="+mn-lt"/>
                <a:ea typeface="+mn-ea"/>
                <a:cs typeface="+mn-cs"/>
                <a:sym typeface="Calibri"/>
              </a:defRPr>
            </a:pPr>
            <a:r>
              <a:t>Small LLM First Strategy:</a:t>
            </a:r>
          </a:p>
          <a:p>
            <a:pPr>
              <a:defRPr sz="1400">
                <a:latin typeface="+mn-lt"/>
                <a:ea typeface="+mn-ea"/>
                <a:cs typeface="+mn-cs"/>
                <a:sym typeface="Calibri"/>
              </a:defRPr>
            </a:pPr>
            <a:r>
              <a:t>The Planner uses a fast, low-parameter model purely for structured entity extraction (Company, Year).</a:t>
            </a:r>
          </a:p>
          <a:p>
            <a:pPr>
              <a:spcBef>
                <a:spcPts val="1400"/>
              </a:spcBef>
              <a:defRPr b="1" sz="1600">
                <a:latin typeface="+mn-lt"/>
                <a:ea typeface="+mn-ea"/>
                <a:cs typeface="+mn-cs"/>
                <a:sym typeface="Calibri"/>
              </a:defRPr>
            </a:pPr>
            <a:r>
              <a:t>Reserve Large Models:</a:t>
            </a:r>
          </a:p>
          <a:p>
            <a:pPr>
              <a:defRPr sz="1400">
                <a:latin typeface="+mn-lt"/>
                <a:ea typeface="+mn-ea"/>
                <a:cs typeface="+mn-cs"/>
                <a:sym typeface="Calibri"/>
              </a:defRPr>
            </a:pPr>
            <a:r>
              <a:t>Only the final Answer node uses an expensive reasoning model, minimizing token cost and latency.</a:t>
            </a:r>
          </a:p>
          <a:p>
            <a:pPr>
              <a:spcBef>
                <a:spcPts val="1400"/>
              </a:spcBef>
              <a:defRPr b="1" sz="1600">
                <a:latin typeface="+mn-lt"/>
                <a:ea typeface="+mn-ea"/>
                <a:cs typeface="+mn-cs"/>
                <a:sym typeface="Calibri"/>
              </a:defRPr>
            </a:pPr>
            <a:r>
              <a:t>Single-Responsibility Nodes:</a:t>
            </a:r>
          </a:p>
          <a:p>
            <a:pPr>
              <a:defRPr sz="1400">
                <a:latin typeface="+mn-lt"/>
                <a:ea typeface="+mn-ea"/>
                <a:cs typeface="+mn-cs"/>
                <a:sym typeface="Calibri"/>
              </a:defRPr>
            </a:pPr>
            <a:r>
              <a:t>Each node executes one explicit task. Edges are controlled by Python logic, not LLM guesses</a:t>
            </a:r>
          </a:p>
          <a:p>
            <a:pPr>
              <a:defRPr sz="1400"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pic>
        <p:nvPicPr>
          <p:cNvPr id="113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26147" y="1269540"/>
            <a:ext cx="5487083" cy="431892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1">
              <a:defRPr sz="3700"/>
            </a:lvl1pPr>
          </a:lstStyle>
          <a:p>
            <a:pPr/>
            <a:r>
              <a:t>Deterministic Guardrails: The Clarify Gate</a:t>
            </a:r>
          </a:p>
        </p:txBody>
      </p:sp>
      <p:sp>
        <p:nvSpPr>
          <p:cNvPr id="116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79" indent="-305179" defTabSz="406908">
              <a:spcBef>
                <a:spcPts val="600"/>
              </a:spcBef>
              <a:defRPr sz="2800"/>
            </a:pPr>
            <a:r>
              <a:t>Why SQL First? (Zero Hallucination Routing)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By executing SQL against DuckDB first, we filter the allowed candidate set before touching vectors.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Mathematically eliminates the LLM hallucinating data from the wrong company.</a:t>
            </a:r>
          </a:p>
          <a:p>
            <a:pPr marL="305179" indent="-305179" defTabSz="406908">
              <a:spcBef>
                <a:spcPts val="600"/>
              </a:spcBef>
              <a:defRPr sz="2800"/>
            </a:pPr>
            <a:r>
              <a:t>The 0, 1, &gt;1 Rule: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0 Matches -&gt; Halt execution. Target not in corpus.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1 Match -&gt; Exact target resolved. Proceed silently.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&gt; 1 Match -&gt; Interrupt. Force user to clarify based on exact database options.</a:t>
            </a:r>
          </a:p>
        </p:txBody>
      </p:sp>
      <p:sp>
        <p:nvSpPr>
          <p:cNvPr id="117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>
            <a:lvl1pPr defTabSz="393191">
              <a:defRPr sz="3700"/>
            </a:lvl1pPr>
          </a:lstStyle>
          <a:p>
            <a:pPr/>
            <a:r>
              <a:t>Stateless Design: Eliminating Attention Drift</a:t>
            </a:r>
          </a:p>
        </p:txBody>
      </p:sp>
      <p:sp>
        <p:nvSpPr>
          <p:cNvPr id="120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296024" indent="-296024" defTabSz="394700">
              <a:spcBef>
                <a:spcPts val="500"/>
              </a:spcBef>
              <a:defRPr sz="2716"/>
            </a:pPr>
            <a:r>
              <a:t>The Danger of Long-Term Memory in  RAG:</a:t>
            </a:r>
          </a:p>
          <a:p>
            <a:pPr lvl="1" marL="641388" indent="-246687" defTabSz="394700">
              <a:spcBef>
                <a:spcPts val="400"/>
              </a:spcBef>
              <a:defRPr sz="2328"/>
            </a:pPr>
            <a:r>
              <a:t>Passing full chat history back into the LLM inevitably causes 'attention drift'.</a:t>
            </a:r>
          </a:p>
          <a:p>
            <a:pPr lvl="1" marL="641388" indent="-246687" defTabSz="394700">
              <a:spcBef>
                <a:spcPts val="400"/>
              </a:spcBef>
              <a:defRPr sz="2328"/>
            </a:pPr>
            <a:r>
              <a:t>The LLM begins confusing constraints from 10 messages ago with the current query, destroying accuracy.</a:t>
            </a:r>
          </a:p>
          <a:p>
            <a:pPr marL="296024" indent="-296024" defTabSz="394700">
              <a:spcBef>
                <a:spcPts val="500"/>
              </a:spcBef>
              <a:defRPr sz="2716"/>
            </a:pPr>
            <a:r>
              <a:t>Solution: One turn based Chatbot.</a:t>
            </a:r>
          </a:p>
          <a:p>
            <a:pPr lvl="1" marL="641388" indent="-246687" defTabSz="394700">
              <a:spcBef>
                <a:spcPts val="400"/>
              </a:spcBef>
              <a:defRPr sz="2328"/>
            </a:pPr>
            <a:r>
              <a:t>Every single query is treated as a fresh, strict database lookup.</a:t>
            </a:r>
          </a:p>
          <a:p>
            <a:pPr lvl="1" marL="641388" indent="-246687" defTabSz="394700">
              <a:spcBef>
                <a:spcPts val="400"/>
              </a:spcBef>
              <a:defRPr sz="2328"/>
            </a:pPr>
            <a:r>
              <a:t>The User can have one turn to clarify the ambiguity, the agent will ask the question to clarify.</a:t>
            </a:r>
          </a:p>
          <a:p>
            <a:pPr lvl="1" marL="641388" indent="-246687" defTabSz="394700">
              <a:spcBef>
                <a:spcPts val="400"/>
              </a:spcBef>
              <a:defRPr sz="2328"/>
            </a:pPr>
            <a:r>
              <a:t>The 100th question in a session is mathematically guaranteed to be as precise and grounded as the 1st.</a:t>
            </a:r>
          </a:p>
        </p:txBody>
      </p:sp>
      <p:sp>
        <p:nvSpPr>
          <p:cNvPr id="121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itle 1"/>
          <p:cNvSpPr txBox="1"/>
          <p:nvPr>
            <p:ph type="title"/>
          </p:nvPr>
        </p:nvSpPr>
        <p:spPr>
          <a:xfrm>
            <a:off x="457200" y="274638"/>
            <a:ext cx="8229600" cy="1143002"/>
          </a:xfrm>
          <a:prstGeom prst="rect">
            <a:avLst/>
          </a:prstGeom>
        </p:spPr>
        <p:txBody>
          <a:bodyPr/>
          <a:lstStyle>
            <a:lvl1pPr defTabSz="393191">
              <a:defRPr sz="3700"/>
            </a:lvl1pPr>
          </a:lstStyle>
          <a:p>
            <a:pPr/>
            <a:r>
              <a:t>Explainability.</a:t>
            </a:r>
          </a:p>
        </p:txBody>
      </p:sp>
      <p:sp>
        <p:nvSpPr>
          <p:cNvPr id="124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05179" indent="-305179" defTabSz="406908">
              <a:spcBef>
                <a:spcPts val="600"/>
              </a:spcBef>
              <a:defRPr sz="2800"/>
            </a:pPr>
            <a:r>
              <a:t>Reasoning: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The agent always has the reasoning so the user can understand the rationale behind the generated answer.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</a:p>
          <a:p>
            <a:pPr marL="261582" indent="-261582" defTabSz="406908">
              <a:spcBef>
                <a:spcPts val="600"/>
              </a:spcBef>
              <a:defRPr sz="2800"/>
            </a:pPr>
            <a:r>
              <a:rPr sz="2400"/>
              <a:t>Citation: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Every single answer is backed by citations directly from the source.</a:t>
            </a:r>
          </a:p>
          <a:p>
            <a:pPr lvl="1" marL="661224" indent="-254316" defTabSz="406908">
              <a:spcBef>
                <a:spcPts val="500"/>
              </a:spcBef>
              <a:defRPr sz="2400"/>
            </a:pPr>
            <a:r>
              <a:t>Improves explainability of the answers.</a:t>
            </a:r>
          </a:p>
        </p:txBody>
      </p:sp>
      <p:sp>
        <p:nvSpPr>
          <p:cNvPr id="125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Latency &amp; Execution Controls</a:t>
            </a:r>
          </a:p>
        </p:txBody>
      </p:sp>
      <p:sp>
        <p:nvSpPr>
          <p:cNvPr id="128" name="Content Placeholder 2"/>
          <p:cNvSpPr txBox="1"/>
          <p:nvPr>
            <p:ph type="body" idx="1"/>
          </p:nvPr>
        </p:nvSpPr>
        <p:spPr>
          <a:xfrm>
            <a:off x="457200" y="1550353"/>
            <a:ext cx="8229601" cy="4525964"/>
          </a:xfrm>
          <a:prstGeom prst="rect">
            <a:avLst/>
          </a:prstGeom>
        </p:spPr>
        <p:txBody>
          <a:bodyPr/>
          <a:lstStyle/>
          <a:p>
            <a:pPr marL="241641" indent="-241641" defTabSz="322187">
              <a:spcBef>
                <a:spcPts val="500"/>
              </a:spcBef>
              <a:defRPr sz="2175"/>
            </a:pPr>
            <a:r>
              <a:t>Target Latency SLA (~1.6s End-to-End):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Plan (Small LLM): ~200ms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Clarify Gate (DuckDB): &lt;5ms (Fail-fast validation)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Hybrid Union + Cross-Encoder: ~150ms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Answer Synthesis: ~1.2s (Streaming)</a:t>
            </a:r>
          </a:p>
          <a:p>
            <a:pPr marL="241641" indent="-241641" defTabSz="322187">
              <a:spcBef>
                <a:spcPts val="500"/>
              </a:spcBef>
              <a:defRPr sz="2175"/>
            </a:pPr>
            <a:r>
              <a:t>Strict Retry Caps: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O(1) loop depth limit (max_iterations = 2). Graph explicitly prevents infinite execution.</a:t>
            </a:r>
          </a:p>
          <a:p>
            <a:pPr marL="241641" indent="-241641" defTabSz="322187">
              <a:spcBef>
                <a:spcPts val="500"/>
              </a:spcBef>
              <a:defRPr sz="2175"/>
            </a:pPr>
            <a:r>
              <a:t>Token Budget Management:</a:t>
            </a:r>
          </a:p>
          <a:p>
            <a:pPr lvl="1" marL="523556" indent="-201367" defTabSz="322187">
              <a:spcBef>
                <a:spcPts val="400"/>
              </a:spcBef>
              <a:defRPr sz="1914"/>
            </a:pPr>
            <a:r>
              <a:t>Cross-Encoder strictly caps LLM input context to &lt;2,000 tokens.</a:t>
            </a:r>
          </a:p>
          <a:p>
            <a:pPr marL="298322" indent="-298322" defTabSz="397763">
              <a:spcBef>
                <a:spcPts val="600"/>
              </a:spcBef>
              <a:defRPr sz="2784"/>
            </a:pPr>
            <a:r>
              <a:t>Dynamic Search Depth: k expands on retries to prevent placebo loops.</a:t>
            </a:r>
          </a:p>
        </p:txBody>
      </p:sp>
      <p:sp>
        <p:nvSpPr>
          <p:cNvPr id="129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itle 1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Model Risk Management (MRM)</a:t>
            </a:r>
          </a:p>
        </p:txBody>
      </p:sp>
      <p:sp>
        <p:nvSpPr>
          <p:cNvPr id="132" name="Content Placeholder 2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marL="332613" indent="-332613" defTabSz="443483">
              <a:defRPr sz="3100"/>
            </a:pPr>
            <a:r>
              <a:t>100% Traceability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The Pydantic state object records every SQL match, candidate score, and node transition.</a:t>
            </a:r>
          </a:p>
          <a:p>
            <a:pPr marL="332613" indent="-332613" defTabSz="443483">
              <a:defRPr sz="3100"/>
            </a:pPr>
            <a:r>
              <a:t>Audit-Ready Logs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Execution traces can be piped directly to internal telemetry platforms for MRM compliance.</a:t>
            </a:r>
          </a:p>
          <a:p>
            <a:pPr marL="332613" indent="-332613" defTabSz="443483">
              <a:defRPr sz="3100"/>
            </a:pPr>
            <a:r>
              <a:t>Deterministic Citations</a:t>
            </a:r>
          </a:p>
          <a:p>
            <a:pPr lvl="1" marL="720661" indent="-277177" defTabSz="443483">
              <a:spcBef>
                <a:spcPts val="600"/>
              </a:spcBef>
              <a:defRPr sz="2700"/>
            </a:pPr>
            <a:r>
              <a:t>Every generated claim is hard-bound to a specific chunk_id and SEC canonical source URL.</a:t>
            </a:r>
          </a:p>
        </p:txBody>
      </p:sp>
      <p:sp>
        <p:nvSpPr>
          <p:cNvPr id="133" name="Rectangle 3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36" name="TextBox 2"/>
          <p:cNvSpPr txBox="1"/>
          <p:nvPr/>
        </p:nvSpPr>
        <p:spPr>
          <a:xfrm>
            <a:off x="313526" y="304673"/>
            <a:ext cx="3196193" cy="789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User Interface (UI)</a:t>
            </a:r>
          </a:p>
        </p:txBody>
      </p:sp>
      <p:pic>
        <p:nvPicPr>
          <p:cNvPr id="137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1446" y="1256570"/>
            <a:ext cx="8941108" cy="456834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0" name="TextBox 2"/>
          <p:cNvSpPr txBox="1"/>
          <p:nvPr/>
        </p:nvSpPr>
        <p:spPr>
          <a:xfrm>
            <a:off x="502919" y="182880"/>
            <a:ext cx="6181684" cy="9923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Examples of the Agents : </a:t>
            </a:r>
            <a:br/>
            <a:r>
              <a:t>1. Multi planning with planner node</a:t>
            </a:r>
          </a:p>
        </p:txBody>
      </p:sp>
      <p:pic>
        <p:nvPicPr>
          <p:cNvPr id="141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0" t="0" r="4971" b="0"/>
          <a:stretch>
            <a:fillRect/>
          </a:stretch>
        </p:blipFill>
        <p:spPr>
          <a:xfrm>
            <a:off x="74810" y="1373524"/>
            <a:ext cx="8994354" cy="427399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44" name="TextBox 2"/>
          <p:cNvSpPr txBox="1"/>
          <p:nvPr/>
        </p:nvSpPr>
        <p:spPr>
          <a:xfrm>
            <a:off x="502919" y="182879"/>
            <a:ext cx="8267659" cy="789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2. Clarify: Resolving Ambiguity with Clarify Node</a:t>
            </a:r>
          </a:p>
        </p:txBody>
      </p:sp>
      <p:pic>
        <p:nvPicPr>
          <p:cNvPr id="145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567" t="10546" r="4884" b="0"/>
          <a:stretch>
            <a:fillRect/>
          </a:stretch>
        </p:blipFill>
        <p:spPr>
          <a:xfrm>
            <a:off x="145850" y="1755786"/>
            <a:ext cx="8852236" cy="37768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Clarify: Multi-turn"/>
          <p:cNvSpPr txBox="1"/>
          <p:nvPr/>
        </p:nvSpPr>
        <p:spPr>
          <a:xfrm>
            <a:off x="262584" y="133732"/>
            <a:ext cx="3150750" cy="789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Clarify: Multi-turn</a:t>
            </a:r>
          </a:p>
        </p:txBody>
      </p:sp>
      <p:pic>
        <p:nvPicPr>
          <p:cNvPr id="148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rcRect l="12322" t="19631" r="0" b="257"/>
          <a:stretch>
            <a:fillRect/>
          </a:stretch>
        </p:blipFill>
        <p:spPr>
          <a:xfrm>
            <a:off x="108476" y="1296865"/>
            <a:ext cx="8712983" cy="410494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Rectangle 1"/>
          <p:cNvSpPr/>
          <p:nvPr/>
        </p:nvSpPr>
        <p:spPr>
          <a:xfrm>
            <a:off x="0" y="-2"/>
            <a:ext cx="9144000" cy="137164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Calibri"/>
              </a:defRPr>
            </a:pPr>
          </a:p>
        </p:txBody>
      </p:sp>
      <p:sp>
        <p:nvSpPr>
          <p:cNvPr id="151" name="TextBox 2"/>
          <p:cNvSpPr txBox="1"/>
          <p:nvPr/>
        </p:nvSpPr>
        <p:spPr>
          <a:xfrm>
            <a:off x="502919" y="182879"/>
            <a:ext cx="6788109" cy="789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Calibri"/>
              </a:defRPr>
            </a:pPr>
          </a:p>
          <a:p>
            <a:pPr>
              <a:defRPr b="1" sz="3200">
                <a:latin typeface="+mn-lt"/>
                <a:ea typeface="+mn-ea"/>
                <a:cs typeface="+mn-cs"/>
                <a:sym typeface="Calibri"/>
              </a:defRPr>
            </a:pPr>
            <a:r>
              <a:t>3. Context Verification with Verify Node</a:t>
            </a:r>
          </a:p>
        </p:txBody>
      </p:sp>
      <p:pic>
        <p:nvPicPr>
          <p:cNvPr id="152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rcRect l="12816" t="48464" r="0" b="0"/>
          <a:stretch>
            <a:fillRect/>
          </a:stretch>
        </p:blipFill>
        <p:spPr>
          <a:xfrm>
            <a:off x="33337" y="1857354"/>
            <a:ext cx="9077266" cy="281955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