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itle 1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Deterministic RAG for SEC Filings</a:t>
            </a:r>
          </a:p>
        </p:txBody>
      </p:sp>
      <p:sp>
        <p:nvSpPr>
          <p:cNvPr id="95" name="Subtitle 2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defTabSz="352043">
              <a:spcBef>
                <a:spcPts val="500"/>
              </a:spcBef>
              <a:defRPr sz="2464"/>
            </a:pPr>
            <a:r>
              <a:t>Architecture, Execution Controls, and MRM</a:t>
            </a:r>
          </a:p>
          <a:p>
            <a:pPr defTabSz="352043">
              <a:spcBef>
                <a:spcPts val="500"/>
              </a:spcBef>
              <a:defRPr sz="2464"/>
            </a:pPr>
            <a:r>
              <a:t>CIB Applied AI</a:t>
            </a:r>
          </a:p>
          <a:p>
            <a:pPr defTabSz="352043">
              <a:spcBef>
                <a:spcPts val="500"/>
              </a:spcBef>
              <a:defRPr sz="2464"/>
            </a:pPr>
          </a:p>
          <a:p>
            <a:pPr defTabSz="352043">
              <a:spcBef>
                <a:spcPts val="500"/>
              </a:spcBef>
              <a:defRPr sz="2464"/>
            </a:pPr>
            <a:r>
              <a:t>Venkatesh Giri</a:t>
            </a:r>
          </a:p>
        </p:txBody>
      </p:sp>
      <p:sp>
        <p:nvSpPr>
          <p:cNvPr id="96" name="Rectangle 3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The Problem: Vector Search Lacks Set Theory</a:t>
            </a:r>
          </a:p>
        </p:txBody>
      </p:sp>
      <p:sp>
        <p:nvSpPr>
          <p:cNvPr id="99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67461" indent="-267461" defTabSz="356615">
              <a:spcBef>
                <a:spcPts val="500"/>
              </a:spcBef>
              <a:defRPr sz="2496"/>
            </a:pPr>
            <a:r>
              <a:t>The Core Vulnerability of Standard RAG:</a:t>
            </a:r>
          </a:p>
          <a:p>
            <a:pPr lvl="1" marL="579500" indent="-222884" defTabSz="356615">
              <a:spcBef>
                <a:spcPts val="500"/>
              </a:spcBef>
              <a:defRPr sz="2184"/>
            </a:pPr>
            <a:r>
              <a:t>Standard vector DBs cannot reliably execute hard constraints (e.g., 'only 2023 filings').</a:t>
            </a:r>
          </a:p>
          <a:p>
            <a:pPr lvl="1" marL="579500" indent="-222884" defTabSz="356615">
              <a:spcBef>
                <a:spcPts val="500"/>
              </a:spcBef>
              <a:defRPr sz="2184"/>
            </a:pPr>
            <a:r>
              <a:t>Result: Vector drift. The model silently mixes temporal context across different years or corporate entities.</a:t>
            </a:r>
          </a:p>
          <a:p>
            <a:pPr marL="267461" indent="-267461" defTabSz="356615">
              <a:spcBef>
                <a:spcPts val="500"/>
              </a:spcBef>
              <a:defRPr sz="2496"/>
            </a:pPr>
            <a:r>
              <a:t>Our Architectural Solution:</a:t>
            </a:r>
          </a:p>
          <a:p>
            <a:pPr lvl="1" marL="579500" indent="-222884" defTabSz="356615">
              <a:spcBef>
                <a:spcPts val="500"/>
              </a:spcBef>
              <a:defRPr sz="2184"/>
            </a:pPr>
            <a:r>
              <a:t>Decouple strict metadata filtering from the semantic search engine.</a:t>
            </a:r>
          </a:p>
          <a:p>
            <a:pPr lvl="1" marL="579500" indent="-222884" defTabSz="356615">
              <a:spcBef>
                <a:spcPts val="500"/>
              </a:spcBef>
              <a:defRPr sz="2184"/>
            </a:pPr>
            <a:r>
              <a:t>Replace open-ended ReAct LLM loops with a deterministic state machine.</a:t>
            </a:r>
          </a:p>
          <a:p>
            <a:pPr lvl="1" marL="579500" indent="-222884" defTabSz="356615">
              <a:spcBef>
                <a:spcPts val="500"/>
              </a:spcBef>
              <a:defRPr sz="2184"/>
            </a:pPr>
            <a:r>
              <a:t>Enforce fail-fast SQL checks before executing expensive embedding calls.</a:t>
            </a:r>
          </a:p>
        </p:txBody>
      </p:sp>
      <p:sp>
        <p:nvSpPr>
          <p:cNvPr id="100" name="Rectangle 3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438911">
              <a:defRPr sz="4224"/>
            </a:lvl1pPr>
          </a:lstStyle>
          <a:p>
            <a:pPr/>
            <a:r>
              <a:t>Decoupled Storage &amp; Union Retrieval</a:t>
            </a:r>
          </a:p>
        </p:txBody>
      </p:sp>
      <p:sp>
        <p:nvSpPr>
          <p:cNvPr id="103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67461" indent="-267461" defTabSz="356615">
              <a:spcBef>
                <a:spcPts val="500"/>
              </a:spcBef>
              <a:defRPr sz="2496"/>
            </a:pPr>
            <a:r>
              <a:t>DuckDB (In-Process SQL) -&gt; The Catalog</a:t>
            </a:r>
          </a:p>
          <a:p>
            <a:pPr lvl="1" marL="579500" indent="-222884" defTabSz="356615">
              <a:spcBef>
                <a:spcPts val="500"/>
              </a:spcBef>
              <a:defRPr sz="2184"/>
            </a:pPr>
            <a:r>
              <a:t>Handles exact metadata filters and target validation in &lt;5ms.</a:t>
            </a:r>
          </a:p>
          <a:p>
            <a:pPr marL="267461" indent="-267461" defTabSz="356615">
              <a:spcBef>
                <a:spcPts val="500"/>
              </a:spcBef>
              <a:defRPr sz="2496"/>
            </a:pPr>
            <a:r>
              <a:t>FAISS (Dense) + BM25 (Sparse) -&gt; The Search</a:t>
            </a:r>
          </a:p>
          <a:p>
            <a:pPr lvl="1" marL="579500" indent="-222884" defTabSz="356615">
              <a:spcBef>
                <a:spcPts val="500"/>
              </a:spcBef>
              <a:defRPr sz="2184"/>
            </a:pPr>
            <a:r>
              <a:t>Dense catches semantic intent; Sparse catches exact tickers and section codes.</a:t>
            </a:r>
          </a:p>
          <a:p>
            <a:pPr marL="267461" indent="-267461" defTabSz="356615">
              <a:spcBef>
                <a:spcPts val="500"/>
              </a:spcBef>
              <a:defRPr sz="2496"/>
            </a:pPr>
            <a:r>
              <a:t>Why we reject RRF (Reciprocal Rank Fusion):</a:t>
            </a:r>
          </a:p>
          <a:p>
            <a:pPr lvl="1" marL="579500" indent="-222884" defTabSz="356615">
              <a:spcBef>
                <a:spcPts val="500"/>
              </a:spcBef>
              <a:defRPr sz="2184"/>
            </a:pPr>
            <a:r>
              <a:t>RRF relies on arbitrary rank math. Instead, we union candidate IDs to guarantee we never drop a perfect keyword match.</a:t>
            </a:r>
          </a:p>
          <a:p>
            <a:pPr marL="267461" indent="-267461" defTabSz="356615">
              <a:spcBef>
                <a:spcPts val="500"/>
              </a:spcBef>
              <a:defRPr sz="2496"/>
            </a:pPr>
            <a:r>
              <a:t>Cross-Encoder (Reranker) -&gt; The Filter</a:t>
            </a:r>
          </a:p>
          <a:p>
            <a:pPr lvl="1" marL="579500" indent="-222884" defTabSz="356615">
              <a:spcBef>
                <a:spcPts val="500"/>
              </a:spcBef>
              <a:defRPr sz="2184"/>
            </a:pPr>
            <a:r>
              <a:t>Evaluates the bounded union set jointly (query + passage) for highest precision before sending context to the LLM.</a:t>
            </a:r>
          </a:p>
        </p:txBody>
      </p:sp>
      <p:sp>
        <p:nvSpPr>
          <p:cNvPr id="104" name="Rectangle 3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Orchestration &amp; Pydantic State Management</a:t>
            </a:r>
          </a:p>
        </p:txBody>
      </p:sp>
      <p:sp>
        <p:nvSpPr>
          <p:cNvPr id="107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98322" indent="-298322" defTabSz="397763">
              <a:spcBef>
                <a:spcPts val="600"/>
              </a:spcBef>
              <a:defRPr sz="2784"/>
            </a:pPr>
            <a:r>
              <a:t>Why LangGraph over standard Chaining?</a:t>
            </a:r>
          </a:p>
          <a:p>
            <a:pPr lvl="1" marL="646366" indent="-248602" defTabSz="397763">
              <a:spcBef>
                <a:spcPts val="500"/>
              </a:spcBef>
              <a:defRPr sz="2436"/>
            </a:pPr>
            <a:r>
              <a:t>Financial workflows require full state visibility and explicit loop control, avoiding stochastic LLM routing.</a:t>
            </a:r>
          </a:p>
          <a:p>
            <a:pPr marL="298322" indent="-298322" defTabSz="397763">
              <a:spcBef>
                <a:spcPts val="600"/>
              </a:spcBef>
              <a:defRPr sz="2784"/>
            </a:pPr>
            <a:r>
              <a:t>Strict State Typing with Pydantic:</a:t>
            </a:r>
          </a:p>
          <a:p>
            <a:pPr lvl="1" marL="646366" indent="-248602" defTabSz="397763">
              <a:spcBef>
                <a:spcPts val="500"/>
              </a:spcBef>
              <a:defRPr sz="2436"/>
            </a:pPr>
            <a:r>
              <a:t>The graph's state object is strongly typed via Pydantic.</a:t>
            </a:r>
          </a:p>
          <a:p>
            <a:pPr lvl="1" marL="646366" indent="-248602" defTabSz="397763">
              <a:spcBef>
                <a:spcPts val="500"/>
              </a:spcBef>
              <a:defRPr sz="2436"/>
            </a:pPr>
            <a:r>
              <a:t>Guarantees schema validation across node transitions, ensuring predictable data mutation.</a:t>
            </a:r>
          </a:p>
          <a:p>
            <a:pPr marL="298322" indent="-298322" defTabSz="397763">
              <a:spcBef>
                <a:spcPts val="600"/>
              </a:spcBef>
              <a:defRPr sz="2784"/>
            </a:pPr>
            <a:r>
              <a:t>State Persistence (Checkpointing):</a:t>
            </a:r>
          </a:p>
          <a:p>
            <a:pPr lvl="1" marL="646366" indent="-248602" defTabSz="397763">
              <a:spcBef>
                <a:spcPts val="500"/>
              </a:spcBef>
              <a:defRPr sz="2436"/>
            </a:pPr>
            <a:r>
              <a:t>State is persisted via thread_id, allowing the graph to safely pause (interrupt) for user input without context loss.</a:t>
            </a:r>
          </a:p>
        </p:txBody>
      </p:sp>
      <p:sp>
        <p:nvSpPr>
          <p:cNvPr id="108" name="Rectangle 3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2"/>
          <p:cNvSpPr txBox="1"/>
          <p:nvPr/>
        </p:nvSpPr>
        <p:spPr>
          <a:xfrm>
            <a:off x="502919" y="182879"/>
            <a:ext cx="6596223" cy="78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/>
            </a:pPr>
            <a:r>
              <a:t>Agent Node Strategy &amp; Execution Flow</a:t>
            </a:r>
          </a:p>
        </p:txBody>
      </p:sp>
      <p:pic>
        <p:nvPicPr>
          <p:cNvPr id="112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" y="1097280"/>
            <a:ext cx="5029200" cy="2995508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TextBox 4"/>
          <p:cNvSpPr txBox="1"/>
          <p:nvPr/>
        </p:nvSpPr>
        <p:spPr>
          <a:xfrm>
            <a:off x="5714999" y="1097280"/>
            <a:ext cx="3108961" cy="351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defRPr b="1" sz="1600"/>
            </a:pPr>
            <a:r>
              <a:t>Small LLM First Strategy:</a:t>
            </a:r>
          </a:p>
          <a:p>
            <a:pPr>
              <a:defRPr sz="1400"/>
            </a:pPr>
            <a:r>
              <a:t>The Planner uses a fast, low-parameter model purely for structured entity extraction (Company, Year).</a:t>
            </a:r>
          </a:p>
          <a:p>
            <a:pPr>
              <a:spcBef>
                <a:spcPts val="1400"/>
              </a:spcBef>
              <a:defRPr b="1" sz="1600"/>
            </a:pPr>
            <a:r>
              <a:t>Reserve Large Models:</a:t>
            </a:r>
          </a:p>
          <a:p>
            <a:pPr>
              <a:defRPr sz="1400"/>
            </a:pPr>
            <a:r>
              <a:t>Only the final Answer node uses an expensive reasoning model, minimizing token cost and latency.</a:t>
            </a:r>
          </a:p>
          <a:p>
            <a:pPr>
              <a:spcBef>
                <a:spcPts val="1400"/>
              </a:spcBef>
              <a:defRPr b="1" sz="1600"/>
            </a:pPr>
            <a:r>
              <a:t>Single-Responsibility Nodes:</a:t>
            </a:r>
          </a:p>
          <a:p>
            <a:pPr>
              <a:defRPr sz="1400"/>
            </a:pPr>
            <a:r>
              <a:t>Each node executes one explicit task. Edges are controlled by Python logic, not LLM guesses.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Deterministic Guardrails: The Clarify Gate</a:t>
            </a:r>
          </a:p>
        </p:txBody>
      </p:sp>
      <p:sp>
        <p:nvSpPr>
          <p:cNvPr id="116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05180" indent="-305180" defTabSz="406908">
              <a:spcBef>
                <a:spcPts val="600"/>
              </a:spcBef>
              <a:defRPr sz="2848"/>
            </a:pPr>
            <a:r>
              <a:t>Why SQL First? (Zero Hallucination Routing)</a:t>
            </a:r>
          </a:p>
          <a:p>
            <a:pPr lvl="1" marL="661225" indent="-254317" defTabSz="406908">
              <a:spcBef>
                <a:spcPts val="500"/>
              </a:spcBef>
              <a:defRPr sz="2492"/>
            </a:pPr>
            <a:r>
              <a:t>By executing SQL against DuckDB first, we filter the allowed candidate set before touching vectors.</a:t>
            </a:r>
          </a:p>
          <a:p>
            <a:pPr lvl="1" marL="661225" indent="-254317" defTabSz="406908">
              <a:spcBef>
                <a:spcPts val="500"/>
              </a:spcBef>
              <a:defRPr sz="2492"/>
            </a:pPr>
            <a:r>
              <a:t>Mathematically eliminates the LLM hallucinating data from the wrong company.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The 0, 1, &gt;1 Rule:</a:t>
            </a:r>
          </a:p>
          <a:p>
            <a:pPr lvl="1" marL="661225" indent="-254317" defTabSz="406908">
              <a:spcBef>
                <a:spcPts val="500"/>
              </a:spcBef>
              <a:defRPr sz="2492"/>
            </a:pPr>
            <a:r>
              <a:t>0 Matches -&gt; Halt execution. Target not in corpus.</a:t>
            </a:r>
          </a:p>
          <a:p>
            <a:pPr lvl="1" marL="661225" indent="-254317" defTabSz="406908">
              <a:spcBef>
                <a:spcPts val="500"/>
              </a:spcBef>
              <a:defRPr sz="2492"/>
            </a:pPr>
            <a:r>
              <a:t>1 Match -&gt; Exact target resolved. Proceed silently.</a:t>
            </a:r>
          </a:p>
          <a:p>
            <a:pPr lvl="1" marL="661225" indent="-254317" defTabSz="406908">
              <a:spcBef>
                <a:spcPts val="500"/>
              </a:spcBef>
              <a:defRPr sz="2492"/>
            </a:pPr>
            <a:r>
              <a:t>&gt; 1 Match -&gt; Interrupt. Force user to clarify based on exact database options.</a:t>
            </a:r>
          </a:p>
        </p:txBody>
      </p:sp>
      <p:sp>
        <p:nvSpPr>
          <p:cNvPr id="117" name="Rectangle 3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393192">
              <a:defRPr sz="3784"/>
            </a:lvl1pPr>
          </a:lstStyle>
          <a:p>
            <a:pPr/>
            <a:r>
              <a:t>Stateless Design: Eliminating Attention Drift</a:t>
            </a:r>
          </a:p>
        </p:txBody>
      </p:sp>
      <p:sp>
        <p:nvSpPr>
          <p:cNvPr id="120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05180" indent="-305180" defTabSz="406908">
              <a:spcBef>
                <a:spcPts val="600"/>
              </a:spcBef>
              <a:defRPr sz="2848"/>
            </a:pPr>
            <a:r>
              <a:t>The Danger of Long-Term Memory in Enterprise RAG:</a:t>
            </a:r>
          </a:p>
          <a:p>
            <a:pPr lvl="1" marL="661225" indent="-254317" defTabSz="406908">
              <a:spcBef>
                <a:spcPts val="500"/>
              </a:spcBef>
              <a:defRPr sz="2492"/>
            </a:pPr>
            <a:r>
              <a:t>Passing full chat history back into the LLM inevitably causes 'attention drift'.</a:t>
            </a:r>
          </a:p>
          <a:p>
            <a:pPr lvl="1" marL="661225" indent="-254317" defTabSz="406908">
              <a:spcBef>
                <a:spcPts val="500"/>
              </a:spcBef>
              <a:defRPr sz="2492"/>
            </a:pPr>
            <a:r>
              <a:t>The LLM begins confusing constraints from 10 messages ago with the current query, destroying accuracy.</a:t>
            </a:r>
          </a:p>
          <a:p>
            <a:pPr marL="305180" indent="-305180" defTabSz="406908">
              <a:spcBef>
                <a:spcPts val="600"/>
              </a:spcBef>
              <a:defRPr sz="2848"/>
            </a:pPr>
            <a:r>
              <a:t>Our Deliberate Solution: Strict Stateless Execution</a:t>
            </a:r>
          </a:p>
          <a:p>
            <a:pPr lvl="1" marL="661225" indent="-254317" defTabSz="406908">
              <a:spcBef>
                <a:spcPts val="500"/>
              </a:spcBef>
              <a:defRPr sz="2492"/>
            </a:pPr>
            <a:r>
              <a:t>Every single query is treated as a fresh, strict database lookup.</a:t>
            </a:r>
          </a:p>
          <a:p>
            <a:pPr lvl="1" marL="661225" indent="-254317" defTabSz="406908">
              <a:spcBef>
                <a:spcPts val="500"/>
              </a:spcBef>
              <a:defRPr sz="2492"/>
            </a:pPr>
            <a:r>
              <a:t>The 100th question in a session is mathematically guaranteed to be as precise and grounded as the 1st.</a:t>
            </a:r>
          </a:p>
        </p:txBody>
      </p:sp>
      <p:sp>
        <p:nvSpPr>
          <p:cNvPr id="121" name="Rectangle 3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Latency &amp; Execution Controls</a:t>
            </a:r>
          </a:p>
        </p:txBody>
      </p:sp>
      <p:sp>
        <p:nvSpPr>
          <p:cNvPr id="124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277749" indent="-277749" defTabSz="370331">
              <a:spcBef>
                <a:spcPts val="600"/>
              </a:spcBef>
              <a:defRPr sz="2592"/>
            </a:pPr>
            <a:r>
              <a:t>Target Latency SLA (~1.6s End-to-End):</a:t>
            </a:r>
          </a:p>
          <a:p>
            <a:pPr lvl="1" marL="601789" indent="-231457" defTabSz="370331">
              <a:spcBef>
                <a:spcPts val="500"/>
              </a:spcBef>
              <a:defRPr sz="2268"/>
            </a:pPr>
            <a:r>
              <a:t>Plan (Small LLM): ~200ms</a:t>
            </a:r>
          </a:p>
          <a:p>
            <a:pPr lvl="1" marL="601789" indent="-231457" defTabSz="370331">
              <a:spcBef>
                <a:spcPts val="500"/>
              </a:spcBef>
              <a:defRPr sz="2268"/>
            </a:pPr>
            <a:r>
              <a:t>Clarify Gate (DuckDB): &lt;5ms (Fail-fast validation)</a:t>
            </a:r>
          </a:p>
          <a:p>
            <a:pPr lvl="1" marL="601789" indent="-231457" defTabSz="370331">
              <a:spcBef>
                <a:spcPts val="500"/>
              </a:spcBef>
              <a:defRPr sz="2268"/>
            </a:pPr>
            <a:r>
              <a:t>Hybrid Union + Cross-Encoder: ~150ms</a:t>
            </a:r>
          </a:p>
          <a:p>
            <a:pPr lvl="1" marL="601789" indent="-231457" defTabSz="370331">
              <a:spcBef>
                <a:spcPts val="500"/>
              </a:spcBef>
              <a:defRPr sz="2268"/>
            </a:pPr>
            <a:r>
              <a:t>Answer Synthesis: ~1.2s (Streaming)</a:t>
            </a:r>
          </a:p>
          <a:p>
            <a:pPr marL="277749" indent="-277749" defTabSz="370331">
              <a:spcBef>
                <a:spcPts val="600"/>
              </a:spcBef>
              <a:defRPr sz="2592"/>
            </a:pPr>
            <a:r>
              <a:t>Strict Retry Caps:</a:t>
            </a:r>
          </a:p>
          <a:p>
            <a:pPr lvl="1" marL="601789" indent="-231457" defTabSz="370331">
              <a:spcBef>
                <a:spcPts val="500"/>
              </a:spcBef>
              <a:defRPr sz="2268"/>
            </a:pPr>
            <a:r>
              <a:t>O(1) loop depth limit (max_iterations = 2). Graph explicitly prevents infinite execution.</a:t>
            </a:r>
          </a:p>
          <a:p>
            <a:pPr marL="277749" indent="-277749" defTabSz="370331">
              <a:spcBef>
                <a:spcPts val="600"/>
              </a:spcBef>
              <a:defRPr sz="2592"/>
            </a:pPr>
            <a:r>
              <a:t>Token Budget Management:</a:t>
            </a:r>
          </a:p>
          <a:p>
            <a:pPr lvl="1" marL="601789" indent="-231457" defTabSz="370331">
              <a:spcBef>
                <a:spcPts val="500"/>
              </a:spcBef>
              <a:defRPr sz="2268"/>
            </a:pPr>
            <a:r>
              <a:t>Cross-Encoder strictly caps LLM input context to &lt;2,000 tokens.</a:t>
            </a:r>
          </a:p>
          <a:p>
            <a:pPr/>
            <a:r>
              <a:t>Dynamic Search Depth: k expands on retries to prevent placebo loops.</a:t>
            </a:r>
          </a:p>
        </p:txBody>
      </p:sp>
      <p:sp>
        <p:nvSpPr>
          <p:cNvPr id="125" name="Rectangle 3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Model Risk Management (MRM)</a:t>
            </a:r>
          </a:p>
        </p:txBody>
      </p:sp>
      <p:sp>
        <p:nvSpPr>
          <p:cNvPr id="128" name="Content Placeholder 2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marL="332613" indent="-332613" defTabSz="443484">
              <a:defRPr sz="3104"/>
            </a:pPr>
            <a:r>
              <a:t>100% Traceability</a:t>
            </a:r>
          </a:p>
          <a:p>
            <a:pPr lvl="1" marL="720661" indent="-277177" defTabSz="443484">
              <a:spcBef>
                <a:spcPts val="600"/>
              </a:spcBef>
              <a:defRPr sz="2716"/>
            </a:pPr>
            <a:r>
              <a:t>The Pydantic state object records every SQL match, candidate score, and node transition.</a:t>
            </a:r>
          </a:p>
          <a:p>
            <a:pPr marL="332613" indent="-332613" defTabSz="443484">
              <a:defRPr sz="3104"/>
            </a:pPr>
            <a:r>
              <a:t>Audit-Ready Logs</a:t>
            </a:r>
          </a:p>
          <a:p>
            <a:pPr lvl="1" marL="720661" indent="-277177" defTabSz="443484">
              <a:spcBef>
                <a:spcPts val="600"/>
              </a:spcBef>
              <a:defRPr sz="2716"/>
            </a:pPr>
            <a:r>
              <a:t>Execution traces can be piped directly to internal telemetry platforms for MRM compliance.</a:t>
            </a:r>
          </a:p>
          <a:p>
            <a:pPr marL="332613" indent="-332613" defTabSz="443484">
              <a:defRPr sz="3104"/>
            </a:pPr>
            <a:r>
              <a:t>Deterministic Citations</a:t>
            </a:r>
          </a:p>
          <a:p>
            <a:pPr lvl="1" marL="720661" indent="-277177" defTabSz="443484">
              <a:spcBef>
                <a:spcPts val="600"/>
              </a:spcBef>
              <a:defRPr sz="2716"/>
            </a:pPr>
            <a:r>
              <a:t>Every generated claim is hard-bound to a specific chunk_id and SEC canonical source URL.</a:t>
            </a:r>
          </a:p>
        </p:txBody>
      </p:sp>
      <p:sp>
        <p:nvSpPr>
          <p:cNvPr id="129" name="Rectangle 3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" name="TextBox 2"/>
          <p:cNvSpPr txBox="1"/>
          <p:nvPr/>
        </p:nvSpPr>
        <p:spPr>
          <a:xfrm>
            <a:off x="313527" y="304673"/>
            <a:ext cx="3196194" cy="789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/>
            </a:pPr>
            <a:r>
              <a:t>User Interface (UI)</a:t>
            </a:r>
          </a:p>
        </p:txBody>
      </p:sp>
      <p:pic>
        <p:nvPicPr>
          <p:cNvPr id="133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446" y="1256570"/>
            <a:ext cx="8941108" cy="45683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2"/>
          <p:cNvSpPr txBox="1"/>
          <p:nvPr/>
        </p:nvSpPr>
        <p:spPr>
          <a:xfrm>
            <a:off x="502919" y="182879"/>
            <a:ext cx="6181687" cy="992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3200"/>
            </a:pPr>
            <a:r>
              <a:t>Examples of the Agents : </a:t>
            </a:r>
            <a:br/>
            <a:r>
              <a:t>1. Multi planning with planner node</a:t>
            </a:r>
          </a:p>
        </p:txBody>
      </p:sp>
      <p:sp>
        <p:nvSpPr>
          <p:cNvPr id="137" name="TextBox 3"/>
          <p:cNvSpPr txBox="1"/>
          <p:nvPr/>
        </p:nvSpPr>
        <p:spPr>
          <a:xfrm>
            <a:off x="502919" y="914400"/>
            <a:ext cx="127001" cy="632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</p:txBody>
      </p:sp>
      <p:pic>
        <p:nvPicPr>
          <p:cNvPr id="138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rcRect l="0" t="0" r="4971" b="0"/>
          <a:stretch>
            <a:fillRect/>
          </a:stretch>
        </p:blipFill>
        <p:spPr>
          <a:xfrm>
            <a:off x="74810" y="1373524"/>
            <a:ext cx="8994353" cy="42739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Rectangle 1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2"/>
          <p:cNvSpPr txBox="1"/>
          <p:nvPr/>
        </p:nvSpPr>
        <p:spPr>
          <a:xfrm>
            <a:off x="502919" y="182879"/>
            <a:ext cx="8267662" cy="78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/>
            </a:pPr>
            <a:r>
              <a:t>2. Clarify: Resolving Ambiguity with Clarify Node</a:t>
            </a:r>
          </a:p>
        </p:txBody>
      </p:sp>
      <p:pic>
        <p:nvPicPr>
          <p:cNvPr id="142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rcRect l="567" t="10546" r="4884" b="0"/>
          <a:stretch>
            <a:fillRect/>
          </a:stretch>
        </p:blipFill>
        <p:spPr>
          <a:xfrm>
            <a:off x="145851" y="1755786"/>
            <a:ext cx="8852235" cy="377682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larify: Multi-turn"/>
          <p:cNvSpPr txBox="1"/>
          <p:nvPr/>
        </p:nvSpPr>
        <p:spPr>
          <a:xfrm>
            <a:off x="262585" y="133732"/>
            <a:ext cx="3150752" cy="7891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/>
            </a:pPr>
            <a:r>
              <a:t>Clarify: Multi-turn</a:t>
            </a:r>
          </a:p>
        </p:txBody>
      </p:sp>
      <p:pic>
        <p:nvPicPr>
          <p:cNvPr id="145" name="unknown.png" descr="unknown.png"/>
          <p:cNvPicPr>
            <a:picLocks noChangeAspect="1"/>
          </p:cNvPicPr>
          <p:nvPr/>
        </p:nvPicPr>
        <p:blipFill>
          <a:blip r:embed="rId2">
            <a:extLst/>
          </a:blip>
          <a:srcRect l="12322" t="19631" r="0" b="257"/>
          <a:stretch>
            <a:fillRect/>
          </a:stretch>
        </p:blipFill>
        <p:spPr>
          <a:xfrm>
            <a:off x="108476" y="1296866"/>
            <a:ext cx="8712983" cy="410494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"/>
          <p:cNvSpPr/>
          <p:nvPr/>
        </p:nvSpPr>
        <p:spPr>
          <a:xfrm>
            <a:off x="0" y="-1"/>
            <a:ext cx="9144000" cy="137162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2"/>
          <p:cNvSpPr txBox="1"/>
          <p:nvPr/>
        </p:nvSpPr>
        <p:spPr>
          <a:xfrm>
            <a:off x="502919" y="182879"/>
            <a:ext cx="6788112" cy="789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/>
          </a:p>
          <a:p>
            <a:pPr>
              <a:defRPr b="1" sz="3200"/>
            </a:pPr>
            <a:r>
              <a:t>3. Context Verification with Verify Node</a:t>
            </a:r>
          </a:p>
        </p:txBody>
      </p:sp>
      <p:pic>
        <p:nvPicPr>
          <p:cNvPr id="14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rcRect l="12816" t="48464" r="0" b="0"/>
          <a:stretch>
            <a:fillRect/>
          </a:stretch>
        </p:blipFill>
        <p:spPr>
          <a:xfrm>
            <a:off x="33337" y="1857354"/>
            <a:ext cx="9077265" cy="2819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